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63E3BF-5140-CF21-BBF0-89D8695A9851}" v="3167" dt="2026-03-01T23:00:11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plas.2021.100012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1016/j.giq.2023.1018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A0C8DA-0762-CC27-28DE-D6AE3C53F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268555"/>
              </p:ext>
            </p:extLst>
          </p:nvPr>
        </p:nvGraphicFramePr>
        <p:xfrm>
          <a:off x="10583" y="-814"/>
          <a:ext cx="12181104" cy="6902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948">
                  <a:extLst>
                    <a:ext uri="{9D8B030D-6E8A-4147-A177-3AD203B41FA5}">
                      <a16:colId xmlns:a16="http://schemas.microsoft.com/office/drawing/2014/main" val="1569461730"/>
                    </a:ext>
                  </a:extLst>
                </a:gridCol>
                <a:gridCol w="1982420">
                  <a:extLst>
                    <a:ext uri="{9D8B030D-6E8A-4147-A177-3AD203B41FA5}">
                      <a16:colId xmlns:a16="http://schemas.microsoft.com/office/drawing/2014/main" val="35646211"/>
                    </a:ext>
                  </a:extLst>
                </a:gridCol>
                <a:gridCol w="2030184">
                  <a:extLst>
                    <a:ext uri="{9D8B030D-6E8A-4147-A177-3AD203B41FA5}">
                      <a16:colId xmlns:a16="http://schemas.microsoft.com/office/drawing/2014/main" val="3717761853"/>
                    </a:ext>
                  </a:extLst>
                </a:gridCol>
                <a:gridCol w="2030184">
                  <a:extLst>
                    <a:ext uri="{9D8B030D-6E8A-4147-A177-3AD203B41FA5}">
                      <a16:colId xmlns:a16="http://schemas.microsoft.com/office/drawing/2014/main" val="3391507026"/>
                    </a:ext>
                  </a:extLst>
                </a:gridCol>
                <a:gridCol w="2030184">
                  <a:extLst>
                    <a:ext uri="{9D8B030D-6E8A-4147-A177-3AD203B41FA5}">
                      <a16:colId xmlns:a16="http://schemas.microsoft.com/office/drawing/2014/main" val="1212108301"/>
                    </a:ext>
                  </a:extLst>
                </a:gridCol>
                <a:gridCol w="2030184">
                  <a:extLst>
                    <a:ext uri="{9D8B030D-6E8A-4147-A177-3AD203B41FA5}">
                      <a16:colId xmlns:a16="http://schemas.microsoft.com/office/drawing/2014/main" val="1711565433"/>
                    </a:ext>
                  </a:extLst>
                </a:gridCol>
              </a:tblGrid>
              <a:tr h="137371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0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021618"/>
                  </a:ext>
                </a:extLst>
              </a:tr>
              <a:tr h="140758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878586"/>
                  </a:ext>
                </a:extLst>
              </a:tr>
              <a:tr h="137371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0">
                      <a:noFill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661375"/>
                  </a:ext>
                </a:extLst>
              </a:tr>
              <a:tr h="13737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0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99064"/>
                  </a:ext>
                </a:extLst>
              </a:tr>
              <a:tr h="13737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582819"/>
                  </a:ext>
                </a:extLst>
              </a:tr>
            </a:tbl>
          </a:graphicData>
        </a:graphic>
      </p:graphicFrame>
      <p:pic>
        <p:nvPicPr>
          <p:cNvPr id="6" name="Picture 5" descr="A logo for a computer&#10;&#10;AI-generated content may be incorrect.">
            <a:extLst>
              <a:ext uri="{FF2B5EF4-FFF2-40B4-BE49-F238E27FC236}">
                <a16:creationId xmlns:a16="http://schemas.microsoft.com/office/drawing/2014/main" id="{CF25529C-3ED9-CD2D-061C-A9C28A6085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3" t="-686" r="6678" b="3448"/>
          <a:stretch>
            <a:fillRect/>
          </a:stretch>
        </p:blipFill>
        <p:spPr>
          <a:xfrm>
            <a:off x="8141677" y="-4"/>
            <a:ext cx="2010478" cy="1377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B020C-32E6-002F-0E23-FB330224CB63}"/>
              </a:ext>
            </a:extLst>
          </p:cNvPr>
          <p:cNvSpPr txBox="1"/>
          <p:nvPr/>
        </p:nvSpPr>
        <p:spPr>
          <a:xfrm>
            <a:off x="118860" y="3576352"/>
            <a:ext cx="565068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latin typeface="Calibri Light"/>
                <a:ea typeface="Calibri Light"/>
                <a:cs typeface="Calibri Light"/>
              </a:rPr>
              <a:t>Transitioning to Scrum-Agile at </a:t>
            </a:r>
            <a:r>
              <a:rPr lang="en-US" sz="4000" b="1" dirty="0" err="1">
                <a:latin typeface="Calibri Light"/>
                <a:ea typeface="Calibri Light"/>
                <a:cs typeface="Calibri Light"/>
              </a:rPr>
              <a:t>ChadaTech</a:t>
            </a:r>
            <a:endParaRPr lang="en-US" sz="4000" b="1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779F7E-2D1E-D848-F896-6BEDCCC227E7}"/>
              </a:ext>
            </a:extLst>
          </p:cNvPr>
          <p:cNvSpPr txBox="1"/>
          <p:nvPr/>
        </p:nvSpPr>
        <p:spPr>
          <a:xfrm>
            <a:off x="10220243" y="4375801"/>
            <a:ext cx="19684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Calibri Light"/>
                <a:ea typeface="Calibri Light"/>
                <a:cs typeface="Calibri Light"/>
              </a:rPr>
              <a:t>Louis Richards</a:t>
            </a:r>
          </a:p>
          <a:p>
            <a:pPr algn="ctr"/>
            <a:r>
              <a:rPr lang="en-US" b="1">
                <a:latin typeface="Calibri Light"/>
                <a:ea typeface="Calibri Light"/>
                <a:cs typeface="Calibri Light"/>
              </a:rPr>
              <a:t>CS 250</a:t>
            </a:r>
          </a:p>
          <a:p>
            <a:pPr algn="ctr"/>
            <a:r>
              <a:rPr lang="en-US" b="1">
                <a:latin typeface="Calibri Light"/>
                <a:ea typeface="Calibri Light"/>
                <a:cs typeface="Calibri Light"/>
              </a:rPr>
              <a:t>Feb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589845-C22E-250F-486A-3F1B56A5C183}"/>
              </a:ext>
            </a:extLst>
          </p:cNvPr>
          <p:cNvSpPr txBox="1"/>
          <p:nvPr/>
        </p:nvSpPr>
        <p:spPr>
          <a:xfrm>
            <a:off x="6106583" y="5577416"/>
            <a:ext cx="1989666" cy="1301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9EACA3-9632-0FFA-6164-3E6D6E227948}"/>
              </a:ext>
            </a:extLst>
          </p:cNvPr>
          <p:cNvSpPr txBox="1"/>
          <p:nvPr/>
        </p:nvSpPr>
        <p:spPr>
          <a:xfrm>
            <a:off x="6107397" y="5900616"/>
            <a:ext cx="202792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Calibri Light"/>
                <a:ea typeface="Calibri Light"/>
                <a:cs typeface="Calibri Light"/>
              </a:rPr>
              <a:t>Strategic Evaluation of Agile Adoption</a:t>
            </a:r>
            <a:br>
              <a:rPr lang="en-US" sz="1400" dirty="0">
                <a:latin typeface="Calibri Light"/>
                <a:ea typeface="Calibri Light"/>
                <a:cs typeface="Calibri Light"/>
              </a:rPr>
            </a:br>
            <a:r>
              <a:rPr lang="en-US" sz="1200">
                <a:latin typeface="Calibri Light"/>
                <a:ea typeface="Calibri Light"/>
                <a:cs typeface="Calibri Light"/>
              </a:rPr>
              <a:t> SNHU Travel Pilot Project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352FB-9255-BED5-4FEA-BA839D8E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56DA-2972-7EC7-3F32-49280585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950" y="365125"/>
            <a:ext cx="7816850" cy="3230563"/>
          </a:xfrm>
        </p:spPr>
        <p:txBody>
          <a:bodyPr/>
          <a:lstStyle/>
          <a:p>
            <a:r>
              <a:rPr lang="en-US" sz="4000" dirty="0">
                <a:latin typeface="Calibri Light"/>
                <a:ea typeface="Calibri Light"/>
                <a:cs typeface="Calibri Light"/>
              </a:rPr>
              <a:t>Why Consider Agile at </a:t>
            </a:r>
            <a:r>
              <a:rPr lang="en-US" sz="4000" dirty="0" err="1">
                <a:latin typeface="Calibri Light"/>
                <a:ea typeface="Calibri Light"/>
                <a:cs typeface="Calibri Light"/>
              </a:rPr>
              <a:t>ChadaTech</a:t>
            </a:r>
            <a:r>
              <a:rPr lang="en-US" sz="4000" dirty="0">
                <a:latin typeface="Calibri Light"/>
                <a:ea typeface="Calibri Light"/>
                <a:cs typeface="Calibri Light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281B0F-E985-0CBE-8681-9106C70E074A}"/>
              </a:ext>
            </a:extLst>
          </p:cNvPr>
          <p:cNvSpPr txBox="1"/>
          <p:nvPr/>
        </p:nvSpPr>
        <p:spPr>
          <a:xfrm>
            <a:off x="338666" y="19685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6719C-C962-18CA-C46B-BA33C892D967}"/>
              </a:ext>
            </a:extLst>
          </p:cNvPr>
          <p:cNvGrpSpPr/>
          <p:nvPr/>
        </p:nvGrpSpPr>
        <p:grpSpPr>
          <a:xfrm>
            <a:off x="-740833" y="0"/>
            <a:ext cx="3460749" cy="6857999"/>
            <a:chOff x="8731250" y="0"/>
            <a:chExt cx="3460749" cy="68579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F24958E-72EF-7962-E00F-8919ED4BA6FC}"/>
                </a:ext>
              </a:extLst>
            </p:cNvPr>
            <p:cNvSpPr/>
            <p:nvPr/>
          </p:nvSpPr>
          <p:spPr>
            <a:xfrm>
              <a:off x="8731250" y="0"/>
              <a:ext cx="3460749" cy="6857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55C263F-3A27-ED74-71EC-8CD057406BA3}"/>
                </a:ext>
              </a:extLst>
            </p:cNvPr>
            <p:cNvSpPr txBox="1"/>
            <p:nvPr/>
          </p:nvSpPr>
          <p:spPr>
            <a:xfrm>
              <a:off x="9165166" y="1513416"/>
              <a:ext cx="27432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latin typeface="Calibri Light"/>
                  <a:ea typeface="Calibri Light"/>
                  <a:cs typeface="Calibri Light"/>
                </a:rPr>
                <a:t>Demand for Faster Value Delivery</a:t>
              </a:r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F6AC75-3A9D-9502-10F3-17488591A093}"/>
                </a:ext>
              </a:extLst>
            </p:cNvPr>
            <p:cNvSpPr txBox="1"/>
            <p:nvPr/>
          </p:nvSpPr>
          <p:spPr>
            <a:xfrm>
              <a:off x="9091084" y="2677582"/>
              <a:ext cx="2743200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Calibri Light"/>
                  <a:ea typeface="Calibri Light"/>
                  <a:cs typeface="Calibri Light"/>
                </a:rPr>
                <a:t>Organizations benefit from incremental product releases.</a:t>
              </a:r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3A4B58-2429-38B6-19B3-28141CA93F0F}"/>
              </a:ext>
            </a:extLst>
          </p:cNvPr>
          <p:cNvGrpSpPr/>
          <p:nvPr/>
        </p:nvGrpSpPr>
        <p:grpSpPr>
          <a:xfrm>
            <a:off x="-211666" y="-1"/>
            <a:ext cx="3450165" cy="6857999"/>
            <a:chOff x="2709333" y="-1"/>
            <a:chExt cx="3450165" cy="68579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07FB1B-47F5-9FAA-5FAB-FB8200FF9775}"/>
                </a:ext>
              </a:extLst>
            </p:cNvPr>
            <p:cNvSpPr/>
            <p:nvPr/>
          </p:nvSpPr>
          <p:spPr>
            <a:xfrm>
              <a:off x="2709333" y="-1"/>
              <a:ext cx="2920999" cy="685799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712FED-14EF-80F8-D69E-E5DB7ABCDA1F}"/>
                </a:ext>
              </a:extLst>
            </p:cNvPr>
            <p:cNvSpPr txBox="1"/>
            <p:nvPr/>
          </p:nvSpPr>
          <p:spPr>
            <a:xfrm>
              <a:off x="2889249" y="1513416"/>
              <a:ext cx="27432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latin typeface="Calibri Light"/>
                  <a:ea typeface="Calibri Light"/>
                  <a:cs typeface="Calibri Light"/>
                </a:rPr>
                <a:t>Late Risk Detection in Waterfall</a:t>
              </a:r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D2248BD-4885-C8E5-D66A-B9AB3D0F2869}"/>
                </a:ext>
              </a:extLst>
            </p:cNvPr>
            <p:cNvSpPr txBox="1"/>
            <p:nvPr/>
          </p:nvSpPr>
          <p:spPr>
            <a:xfrm>
              <a:off x="2804583" y="2677583"/>
              <a:ext cx="2743200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ea typeface="+mn-lt"/>
                  <a:cs typeface="+mn-lt"/>
                </a:rPr>
                <a:t>Defects and misalignment often surface near project completion.</a:t>
              </a:r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366A4DB5-964C-5A60-D547-C07E0EC56245}"/>
                </a:ext>
              </a:extLst>
            </p:cNvPr>
            <p:cNvSpPr/>
            <p:nvPr/>
          </p:nvSpPr>
          <p:spPr>
            <a:xfrm rot="5400000">
              <a:off x="5328707" y="1444625"/>
              <a:ext cx="1132416" cy="529166"/>
            </a:xfrm>
            <a:prstGeom prst="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30D77EE-4AD8-4B6D-B1FA-F8234C83A4BF}"/>
              </a:ext>
            </a:extLst>
          </p:cNvPr>
          <p:cNvGrpSpPr/>
          <p:nvPr/>
        </p:nvGrpSpPr>
        <p:grpSpPr>
          <a:xfrm>
            <a:off x="-391582" y="0"/>
            <a:ext cx="3630081" cy="6857999"/>
            <a:chOff x="5630334" y="0"/>
            <a:chExt cx="3630081" cy="685799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AB84498-55E9-01AC-FE4A-C414BAC62C2B}"/>
                </a:ext>
              </a:extLst>
            </p:cNvPr>
            <p:cNvSpPr/>
            <p:nvPr/>
          </p:nvSpPr>
          <p:spPr>
            <a:xfrm>
              <a:off x="5630334" y="0"/>
              <a:ext cx="3100915" cy="685799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EB5452A-68C6-9A9C-7021-82B147F24502}"/>
                </a:ext>
              </a:extLst>
            </p:cNvPr>
            <p:cNvSpPr txBox="1"/>
            <p:nvPr/>
          </p:nvSpPr>
          <p:spPr>
            <a:xfrm>
              <a:off x="5810250" y="1513416"/>
              <a:ext cx="27432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latin typeface="Calibri Light"/>
                  <a:ea typeface="Calibri Light"/>
                  <a:cs typeface="Calibri Light"/>
                </a:rPr>
                <a:t>Need for Continuous Feedback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A8398E-E20B-19F5-C6FB-C0CF65268DFE}"/>
                </a:ext>
              </a:extLst>
            </p:cNvPr>
            <p:cNvSpPr txBox="1"/>
            <p:nvPr/>
          </p:nvSpPr>
          <p:spPr>
            <a:xfrm>
              <a:off x="5810249" y="2677583"/>
              <a:ext cx="2743200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latin typeface="Calibri Light"/>
                  <a:ea typeface="Calibri Light"/>
                  <a:cs typeface="Calibri Light"/>
                </a:rPr>
                <a:t>Stakeholder engagement improves alignment and reduces uncertainty.</a:t>
              </a:r>
              <a:endParaRPr lang="en-US"/>
            </a:p>
            <a:p>
              <a:pPr algn="l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AE12EB47-985B-34DC-F63F-F1CB88A4B672}"/>
                </a:ext>
              </a:extLst>
            </p:cNvPr>
            <p:cNvSpPr/>
            <p:nvPr/>
          </p:nvSpPr>
          <p:spPr>
            <a:xfrm rot="5400000">
              <a:off x="8429624" y="1444625"/>
              <a:ext cx="1132416" cy="529166"/>
            </a:xfrm>
            <a:prstGeom prst="triangl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2599489-533D-2F51-D078-FAA411765409}"/>
              </a:ext>
            </a:extLst>
          </p:cNvPr>
          <p:cNvGrpSpPr/>
          <p:nvPr/>
        </p:nvGrpSpPr>
        <p:grpSpPr>
          <a:xfrm>
            <a:off x="0" y="0"/>
            <a:ext cx="3238499" cy="6857999"/>
            <a:chOff x="0" y="0"/>
            <a:chExt cx="3238499" cy="68579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DB804BE-D923-AB4C-96EC-B1D733A2C76E}"/>
                </a:ext>
              </a:extLst>
            </p:cNvPr>
            <p:cNvSpPr/>
            <p:nvPr/>
          </p:nvSpPr>
          <p:spPr>
            <a:xfrm>
              <a:off x="0" y="0"/>
              <a:ext cx="2709332" cy="685799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9BEE8-F098-0084-7E89-6BDFFDDEDF36}"/>
                </a:ext>
              </a:extLst>
            </p:cNvPr>
            <p:cNvSpPr txBox="1"/>
            <p:nvPr/>
          </p:nvSpPr>
          <p:spPr>
            <a:xfrm>
              <a:off x="0" y="1513416"/>
              <a:ext cx="27432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 dirty="0">
                  <a:latin typeface="Calibri Light"/>
                  <a:ea typeface="Calibri Light"/>
                  <a:cs typeface="Calibri Light"/>
                </a:rPr>
                <a:t>Evolving Client </a:t>
              </a:r>
              <a:r>
                <a:rPr lang="en-US" b="1">
                  <a:latin typeface="Calibri Light"/>
                  <a:ea typeface="Calibri Light"/>
                  <a:cs typeface="Calibri Light"/>
                </a:rPr>
                <a:t>Requirements</a:t>
              </a:r>
              <a:endParaRPr lang="en-US" b="1" dirty="0">
                <a:latin typeface="Calibri Light"/>
                <a:ea typeface="Calibri Light"/>
                <a:cs typeface="Calibri Ligh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F8EDFB-492E-D37C-2578-D84A44C3FA24}"/>
                </a:ext>
              </a:extLst>
            </p:cNvPr>
            <p:cNvSpPr txBox="1"/>
            <p:nvPr/>
          </p:nvSpPr>
          <p:spPr>
            <a:xfrm>
              <a:off x="169333" y="2603499"/>
              <a:ext cx="2372784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Calibri Light"/>
                  <a:ea typeface="Calibri Light"/>
                  <a:cs typeface="Calibri Light"/>
                </a:rPr>
                <a:t>Frequent requirement changes increase reword </a:t>
              </a:r>
              <a:r>
                <a:rPr lang="en-US">
                  <a:latin typeface="Calibri Light"/>
                  <a:ea typeface="Calibri Light"/>
                  <a:cs typeface="Calibri Light"/>
                </a:rPr>
                <a:t>risk.</a:t>
              </a:r>
              <a:endParaRPr lang="en-US" dirty="0">
                <a:latin typeface="Calibri Light"/>
                <a:ea typeface="Calibri Light"/>
                <a:cs typeface="Calibri Light"/>
              </a:endParaRP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9F3654BF-0B33-26A8-5743-AF2E0ADA5A9C}"/>
                </a:ext>
              </a:extLst>
            </p:cNvPr>
            <p:cNvSpPr/>
            <p:nvPr/>
          </p:nvSpPr>
          <p:spPr>
            <a:xfrm rot="5400000">
              <a:off x="2407708" y="1444625"/>
              <a:ext cx="1132416" cy="52916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6422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8923E-EB0D-5802-9529-237C1095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950" y="365125"/>
            <a:ext cx="7816850" cy="3230563"/>
          </a:xfrm>
        </p:spPr>
        <p:txBody>
          <a:bodyPr/>
          <a:lstStyle/>
          <a:p>
            <a:r>
              <a:rPr lang="en-US" sz="4000" dirty="0">
                <a:latin typeface="Calibri Light"/>
                <a:ea typeface="Calibri Light"/>
                <a:cs typeface="Calibri Light"/>
              </a:rPr>
              <a:t>Why Consider Agile at </a:t>
            </a:r>
            <a:r>
              <a:rPr lang="en-US" sz="4000" dirty="0" err="1">
                <a:latin typeface="Calibri Light"/>
                <a:ea typeface="Calibri Light"/>
                <a:cs typeface="Calibri Light"/>
              </a:rPr>
              <a:t>ChadaTech</a:t>
            </a:r>
            <a:r>
              <a:rPr lang="en-US" sz="4000" dirty="0">
                <a:latin typeface="Calibri Light"/>
                <a:ea typeface="Calibri Light"/>
                <a:cs typeface="Calibri Light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5E2BB-4E70-8AD6-A1B2-735CDE90AC82}"/>
              </a:ext>
            </a:extLst>
          </p:cNvPr>
          <p:cNvSpPr txBox="1"/>
          <p:nvPr/>
        </p:nvSpPr>
        <p:spPr>
          <a:xfrm>
            <a:off x="338666" y="19685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2B821A-D9BE-6E10-1A87-9AB37CFBA687}"/>
              </a:ext>
            </a:extLst>
          </p:cNvPr>
          <p:cNvGrpSpPr/>
          <p:nvPr/>
        </p:nvGrpSpPr>
        <p:grpSpPr>
          <a:xfrm>
            <a:off x="8731250" y="0"/>
            <a:ext cx="3460749" cy="6857999"/>
            <a:chOff x="8731250" y="0"/>
            <a:chExt cx="3460749" cy="68579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9D64645-D2DA-2581-DBCD-48007FF41262}"/>
                </a:ext>
              </a:extLst>
            </p:cNvPr>
            <p:cNvSpPr/>
            <p:nvPr/>
          </p:nvSpPr>
          <p:spPr>
            <a:xfrm>
              <a:off x="8731250" y="0"/>
              <a:ext cx="3460749" cy="6857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95A946-BE49-6A67-FA4A-2FCB82BF76A7}"/>
                </a:ext>
              </a:extLst>
            </p:cNvPr>
            <p:cNvSpPr txBox="1"/>
            <p:nvPr/>
          </p:nvSpPr>
          <p:spPr>
            <a:xfrm>
              <a:off x="9165166" y="1513416"/>
              <a:ext cx="27432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latin typeface="Calibri Light"/>
                  <a:ea typeface="Calibri Light"/>
                  <a:cs typeface="Calibri Light"/>
                </a:rPr>
                <a:t>Demand for Faster Value Delivery</a:t>
              </a:r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FCF657-6D9B-BAE0-E94A-AD2B1DF637F1}"/>
                </a:ext>
              </a:extLst>
            </p:cNvPr>
            <p:cNvSpPr txBox="1"/>
            <p:nvPr/>
          </p:nvSpPr>
          <p:spPr>
            <a:xfrm>
              <a:off x="9091084" y="2677582"/>
              <a:ext cx="2743200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dirty="0">
                  <a:latin typeface="Calibri Light"/>
                  <a:ea typeface="Calibri Light"/>
                  <a:cs typeface="Calibri Light"/>
                </a:rPr>
                <a:t>Organizations benefit from incremental product releases.</a:t>
              </a:r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3D8931-F805-2CD1-D4BF-A3AC0880EBF4}"/>
              </a:ext>
            </a:extLst>
          </p:cNvPr>
          <p:cNvGrpSpPr/>
          <p:nvPr/>
        </p:nvGrpSpPr>
        <p:grpSpPr>
          <a:xfrm>
            <a:off x="5630334" y="0"/>
            <a:ext cx="3630081" cy="6857999"/>
            <a:chOff x="5630334" y="0"/>
            <a:chExt cx="3630081" cy="685799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8CB7F1-85BA-9B43-63F4-3B7C019DC287}"/>
                </a:ext>
              </a:extLst>
            </p:cNvPr>
            <p:cNvSpPr/>
            <p:nvPr/>
          </p:nvSpPr>
          <p:spPr>
            <a:xfrm>
              <a:off x="5630334" y="0"/>
              <a:ext cx="3100915" cy="685799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C8FA8B-D4EF-B8B4-6CD9-6D898772C0A6}"/>
                </a:ext>
              </a:extLst>
            </p:cNvPr>
            <p:cNvSpPr txBox="1"/>
            <p:nvPr/>
          </p:nvSpPr>
          <p:spPr>
            <a:xfrm>
              <a:off x="5810250" y="1513416"/>
              <a:ext cx="27432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latin typeface="Calibri Light"/>
                  <a:ea typeface="Calibri Light"/>
                  <a:cs typeface="Calibri Light"/>
                </a:rPr>
                <a:t>Need for Continuous Feedback</a:t>
              </a:r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B4DCFE-494F-D03C-6F0A-94E9094FEADC}"/>
                </a:ext>
              </a:extLst>
            </p:cNvPr>
            <p:cNvSpPr txBox="1"/>
            <p:nvPr/>
          </p:nvSpPr>
          <p:spPr>
            <a:xfrm>
              <a:off x="5810249" y="2677583"/>
              <a:ext cx="2743200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latin typeface="Calibri Light"/>
                  <a:ea typeface="Calibri Light"/>
                  <a:cs typeface="Calibri Light"/>
                </a:rPr>
                <a:t>Stakeholder engagement improves alignment and reduces uncertainty.</a:t>
              </a:r>
              <a:endParaRPr lang="en-US"/>
            </a:p>
            <a:p>
              <a:pPr algn="l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330F7D9-8914-79B8-6CDE-50261A93A033}"/>
                </a:ext>
              </a:extLst>
            </p:cNvPr>
            <p:cNvSpPr/>
            <p:nvPr/>
          </p:nvSpPr>
          <p:spPr>
            <a:xfrm rot="5400000">
              <a:off x="8429624" y="1444625"/>
              <a:ext cx="1132416" cy="529166"/>
            </a:xfrm>
            <a:prstGeom prst="triangl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B683DD21-3116-7761-1905-1FF056DFDC8A}"/>
              </a:ext>
            </a:extLst>
          </p:cNvPr>
          <p:cNvSpPr/>
          <p:nvPr/>
        </p:nvSpPr>
        <p:spPr>
          <a:xfrm rot="5400000">
            <a:off x="2411942" y="1459442"/>
            <a:ext cx="1132416" cy="529166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A1406E-799D-0F24-5C28-224BC6084C25}"/>
              </a:ext>
            </a:extLst>
          </p:cNvPr>
          <p:cNvGrpSpPr/>
          <p:nvPr/>
        </p:nvGrpSpPr>
        <p:grpSpPr>
          <a:xfrm>
            <a:off x="2709334" y="-1"/>
            <a:ext cx="2923116" cy="6857999"/>
            <a:chOff x="2709333" y="-1"/>
            <a:chExt cx="2923116" cy="68579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9BE18D6-17A5-9CF9-65A5-68751218598A}"/>
                </a:ext>
              </a:extLst>
            </p:cNvPr>
            <p:cNvSpPr/>
            <p:nvPr/>
          </p:nvSpPr>
          <p:spPr>
            <a:xfrm>
              <a:off x="2709333" y="-1"/>
              <a:ext cx="2920999" cy="685799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4E6AC4-0125-9277-1397-B72C42A26156}"/>
                </a:ext>
              </a:extLst>
            </p:cNvPr>
            <p:cNvSpPr txBox="1"/>
            <p:nvPr/>
          </p:nvSpPr>
          <p:spPr>
            <a:xfrm>
              <a:off x="2889249" y="1513416"/>
              <a:ext cx="2743200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latin typeface="Calibri Light"/>
                  <a:ea typeface="Calibri Light"/>
                  <a:cs typeface="Calibri Light"/>
                </a:rPr>
                <a:t>Late Risk Detection in Waterfall</a:t>
              </a:r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F03A68-2DFD-3907-8E22-511617B86FE9}"/>
                </a:ext>
              </a:extLst>
            </p:cNvPr>
            <p:cNvSpPr txBox="1"/>
            <p:nvPr/>
          </p:nvSpPr>
          <p:spPr>
            <a:xfrm>
              <a:off x="2804583" y="2677583"/>
              <a:ext cx="2743200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ea typeface="+mn-lt"/>
                  <a:cs typeface="+mn-lt"/>
                </a:rPr>
                <a:t>Defects and misalignment often surface near project completion.</a:t>
              </a:r>
              <a:endParaRPr lang="en-US"/>
            </a:p>
          </p:txBody>
        </p:sp>
      </p:grp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9729049D-6479-7595-C352-A9B7A556E229}"/>
              </a:ext>
            </a:extLst>
          </p:cNvPr>
          <p:cNvSpPr/>
          <p:nvPr/>
        </p:nvSpPr>
        <p:spPr>
          <a:xfrm rot="5400000">
            <a:off x="5328708" y="1444625"/>
            <a:ext cx="1132416" cy="52916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19606F-4BBD-5054-C203-4F04F37898F1}"/>
              </a:ext>
            </a:extLst>
          </p:cNvPr>
          <p:cNvGrpSpPr/>
          <p:nvPr/>
        </p:nvGrpSpPr>
        <p:grpSpPr>
          <a:xfrm>
            <a:off x="0" y="0"/>
            <a:ext cx="3227915" cy="6857999"/>
            <a:chOff x="0" y="0"/>
            <a:chExt cx="3227915" cy="68579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F8031A6-ADD8-80EF-F7EE-09A9E4AFFAC4}"/>
                </a:ext>
              </a:extLst>
            </p:cNvPr>
            <p:cNvGrpSpPr/>
            <p:nvPr/>
          </p:nvGrpSpPr>
          <p:grpSpPr>
            <a:xfrm>
              <a:off x="0" y="0"/>
              <a:ext cx="2743200" cy="6857999"/>
              <a:chOff x="-222250" y="317500"/>
              <a:chExt cx="2743200" cy="685799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EAEFF3B-2F7A-E19E-AEF7-EACC048802B7}"/>
                  </a:ext>
                </a:extLst>
              </p:cNvPr>
              <p:cNvSpPr/>
              <p:nvPr/>
            </p:nvSpPr>
            <p:spPr>
              <a:xfrm>
                <a:off x="-222250" y="317500"/>
                <a:ext cx="2709332" cy="685799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D9FE33-EA32-2008-9AF7-F3283244CBC3}"/>
                  </a:ext>
                </a:extLst>
              </p:cNvPr>
              <p:cNvSpPr txBox="1"/>
              <p:nvPr/>
            </p:nvSpPr>
            <p:spPr>
              <a:xfrm>
                <a:off x="-222250" y="1830916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 dirty="0">
                    <a:latin typeface="Calibri Light"/>
                    <a:ea typeface="Calibri Light"/>
                    <a:cs typeface="Calibri Light"/>
                  </a:rPr>
                  <a:t>Evolving Client </a:t>
                </a:r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Requirements</a:t>
                </a:r>
                <a:endParaRPr lang="en-US" b="1" dirty="0">
                  <a:latin typeface="Calibri Light"/>
                  <a:ea typeface="Calibri Light"/>
                  <a:cs typeface="Calibri Light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39158F-1C1E-0373-4731-1E0F48ADC736}"/>
                  </a:ext>
                </a:extLst>
              </p:cNvPr>
              <p:cNvSpPr txBox="1"/>
              <p:nvPr/>
            </p:nvSpPr>
            <p:spPr>
              <a:xfrm>
                <a:off x="-52917" y="3005665"/>
                <a:ext cx="2372784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dirty="0">
                    <a:latin typeface="Calibri Light"/>
                    <a:ea typeface="Calibri Light"/>
                    <a:cs typeface="Calibri Light"/>
                  </a:rPr>
                  <a:t>Frequent requirement changes increase </a:t>
                </a:r>
                <a:r>
                  <a:rPr lang="en-US">
                    <a:latin typeface="Calibri Light"/>
                    <a:ea typeface="Calibri Light"/>
                    <a:cs typeface="Calibri Light"/>
                  </a:rPr>
                  <a:t>rework </a:t>
                </a:r>
                <a:r>
                  <a:rPr lang="en-US" dirty="0">
                    <a:latin typeface="Calibri Light"/>
                    <a:ea typeface="Calibri Light"/>
                    <a:cs typeface="Calibri Light"/>
                  </a:rPr>
                  <a:t>risk.</a:t>
                </a:r>
              </a:p>
            </p:txBody>
          </p:sp>
        </p:grp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BF5B174-8C7C-1BBE-7CDE-2AA20BB1ECEB}"/>
                </a:ext>
              </a:extLst>
            </p:cNvPr>
            <p:cNvSpPr/>
            <p:nvPr/>
          </p:nvSpPr>
          <p:spPr>
            <a:xfrm rot="5400000">
              <a:off x="2397124" y="1444625"/>
              <a:ext cx="1132416" cy="529166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5711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032E1-A9F7-4662-A92F-451B4569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278EC-B9FF-B5B3-4FC7-C18ECFFF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950" y="365125"/>
            <a:ext cx="7816850" cy="3230563"/>
          </a:xfrm>
        </p:spPr>
        <p:txBody>
          <a:bodyPr/>
          <a:lstStyle/>
          <a:p>
            <a:r>
              <a:rPr lang="en-US" sz="4000" dirty="0">
                <a:latin typeface="Calibri Light"/>
                <a:ea typeface="Calibri Light"/>
                <a:cs typeface="Calibri Light"/>
              </a:rPr>
              <a:t>Why Consider Agile at </a:t>
            </a:r>
            <a:r>
              <a:rPr lang="en-US" sz="4000" dirty="0" err="1">
                <a:latin typeface="Calibri Light"/>
                <a:ea typeface="Calibri Light"/>
                <a:cs typeface="Calibri Light"/>
              </a:rPr>
              <a:t>ChadaTech</a:t>
            </a:r>
            <a:r>
              <a:rPr lang="en-US" sz="4000" dirty="0">
                <a:latin typeface="Calibri Light"/>
                <a:ea typeface="Calibri Light"/>
                <a:cs typeface="Calibri Light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B1017C-AC58-972F-7809-C5D6E405736F}"/>
              </a:ext>
            </a:extLst>
          </p:cNvPr>
          <p:cNvSpPr txBox="1"/>
          <p:nvPr/>
        </p:nvSpPr>
        <p:spPr>
          <a:xfrm>
            <a:off x="338666" y="19685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5229D5D-894C-AD9B-AC0D-6772E88C0B4A}"/>
              </a:ext>
            </a:extLst>
          </p:cNvPr>
          <p:cNvSpPr/>
          <p:nvPr/>
        </p:nvSpPr>
        <p:spPr>
          <a:xfrm rot="5400000">
            <a:off x="2411942" y="1459442"/>
            <a:ext cx="1132416" cy="529166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FFA79-B74C-D684-7175-9B4E80091BC3}"/>
              </a:ext>
            </a:extLst>
          </p:cNvPr>
          <p:cNvSpPr txBox="1"/>
          <p:nvPr/>
        </p:nvSpPr>
        <p:spPr>
          <a:xfrm>
            <a:off x="158750" y="3862916"/>
            <a:ext cx="2402416" cy="2264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CD5C4BC-8154-8121-8E8E-2E40BE7D694C}"/>
              </a:ext>
            </a:extLst>
          </p:cNvPr>
          <p:cNvGrpSpPr/>
          <p:nvPr/>
        </p:nvGrpSpPr>
        <p:grpSpPr>
          <a:xfrm>
            <a:off x="8731250" y="-10583"/>
            <a:ext cx="3735917" cy="6860803"/>
            <a:chOff x="8731250" y="0"/>
            <a:chExt cx="3735917" cy="686080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B7904C6-6DF8-4DF2-5E0D-4DD4540B4A36}"/>
                </a:ext>
              </a:extLst>
            </p:cNvPr>
            <p:cNvGrpSpPr/>
            <p:nvPr/>
          </p:nvGrpSpPr>
          <p:grpSpPr>
            <a:xfrm>
              <a:off x="8731250" y="0"/>
              <a:ext cx="3460749" cy="6857999"/>
              <a:chOff x="8731250" y="0"/>
              <a:chExt cx="3460749" cy="685799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E20E61-E5F1-186F-FF3C-6E483F18C420}"/>
                  </a:ext>
                </a:extLst>
              </p:cNvPr>
              <p:cNvSpPr/>
              <p:nvPr/>
            </p:nvSpPr>
            <p:spPr>
              <a:xfrm>
                <a:off x="8731250" y="0"/>
                <a:ext cx="3460749" cy="6857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B157C1-A3A3-9CB2-9997-FD46E779072B}"/>
                  </a:ext>
                </a:extLst>
              </p:cNvPr>
              <p:cNvSpPr txBox="1"/>
              <p:nvPr/>
            </p:nvSpPr>
            <p:spPr>
              <a:xfrm>
                <a:off x="9165166" y="1513416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Demand for Faster Value Delivery</a:t>
                </a:r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0F1170-1704-E045-98D0-7A9E9415D002}"/>
                  </a:ext>
                </a:extLst>
              </p:cNvPr>
              <p:cNvSpPr txBox="1"/>
              <p:nvPr/>
            </p:nvSpPr>
            <p:spPr>
              <a:xfrm>
                <a:off x="9091084" y="2677582"/>
                <a:ext cx="2743200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dirty="0">
                    <a:latin typeface="Calibri Light"/>
                    <a:ea typeface="Calibri Light"/>
                    <a:cs typeface="Calibri Light"/>
                  </a:rPr>
                  <a:t>Organizations benefit from incremental product releases.</a:t>
                </a:r>
                <a:endParaRPr 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7EF3F2-942D-6DA3-5D42-52E25C1FD5CE}"/>
                </a:ext>
              </a:extLst>
            </p:cNvPr>
            <p:cNvSpPr txBox="1"/>
            <p:nvPr/>
          </p:nvSpPr>
          <p:spPr>
            <a:xfrm>
              <a:off x="8889999" y="3862917"/>
              <a:ext cx="3153833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Delivering usable increments accelerates time-to-value.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Agile prioritizes high-impact features early.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Iterative delivery improves return on investment visibility.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893FA47-FBE1-6EA9-243A-E34241BE53D6}"/>
                </a:ext>
              </a:extLst>
            </p:cNvPr>
            <p:cNvSpPr txBox="1"/>
            <p:nvPr/>
          </p:nvSpPr>
          <p:spPr>
            <a:xfrm>
              <a:off x="9577917" y="6614582"/>
              <a:ext cx="2889250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ea typeface="+mn-lt"/>
                  <a:cs typeface="+mn-lt"/>
                </a:rPr>
                <a:t>(McKinsey &amp; Company, 2022; Digital.ai, 2023)</a:t>
              </a:r>
              <a:endParaRPr lang="en-US">
                <a:ea typeface="+mn-lt"/>
                <a:cs typeface="+mn-lt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6C339DF-CB50-EA76-55A5-0C705BEAA313}"/>
              </a:ext>
            </a:extLst>
          </p:cNvPr>
          <p:cNvGrpSpPr/>
          <p:nvPr/>
        </p:nvGrpSpPr>
        <p:grpSpPr>
          <a:xfrm>
            <a:off x="5630333" y="-10583"/>
            <a:ext cx="4074582" cy="6860805"/>
            <a:chOff x="5630334" y="0"/>
            <a:chExt cx="4074582" cy="686080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13385CF-92FC-8353-3E87-F00DB7937B0F}"/>
                </a:ext>
              </a:extLst>
            </p:cNvPr>
            <p:cNvGrpSpPr/>
            <p:nvPr/>
          </p:nvGrpSpPr>
          <p:grpSpPr>
            <a:xfrm>
              <a:off x="5630334" y="0"/>
              <a:ext cx="3100915" cy="6857999"/>
              <a:chOff x="5630334" y="0"/>
              <a:chExt cx="3100915" cy="685799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049DD30-1489-D922-27E1-958C7C865E0D}"/>
                  </a:ext>
                </a:extLst>
              </p:cNvPr>
              <p:cNvSpPr/>
              <p:nvPr/>
            </p:nvSpPr>
            <p:spPr>
              <a:xfrm>
                <a:off x="5630334" y="0"/>
                <a:ext cx="3100915" cy="6857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E06FA6-878A-4E58-C134-203C41C017C2}"/>
                  </a:ext>
                </a:extLst>
              </p:cNvPr>
              <p:cNvSpPr txBox="1"/>
              <p:nvPr/>
            </p:nvSpPr>
            <p:spPr>
              <a:xfrm>
                <a:off x="5810250" y="1513416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Need for Continuous Feedback</a:t>
                </a:r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802EE1-EB93-7CC7-0937-63486EC4EB9E}"/>
                  </a:ext>
                </a:extLst>
              </p:cNvPr>
              <p:cNvSpPr txBox="1"/>
              <p:nvPr/>
            </p:nvSpPr>
            <p:spPr>
              <a:xfrm>
                <a:off x="5810249" y="2677583"/>
                <a:ext cx="2743200" cy="120032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>
                    <a:latin typeface="Calibri Light"/>
                    <a:ea typeface="Calibri Light"/>
                    <a:cs typeface="Calibri Light"/>
                  </a:rPr>
                  <a:t>Stakeholder engagement improves alignment and reduces uncertainty.</a:t>
                </a:r>
                <a:endParaRPr lang="en-US"/>
              </a:p>
              <a:p>
                <a:pPr algn="l"/>
                <a:endParaRPr lang="en-US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3578D7-DD69-B413-A1E4-A2AFEECB2442}"/>
                </a:ext>
              </a:extLst>
            </p:cNvPr>
            <p:cNvSpPr txBox="1"/>
            <p:nvPr/>
          </p:nvSpPr>
          <p:spPr>
            <a:xfrm>
              <a:off x="5905499" y="3799416"/>
              <a:ext cx="2741083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Frequent inspection supports early course correction.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Sprint Reviews provide structured validation checkpoints.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Ongoing collaboration strengthens stakeholder confidence.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638C7B6-5772-0F22-9569-2C67CABB2A91}"/>
                </a:ext>
              </a:extLst>
            </p:cNvPr>
            <p:cNvSpPr txBox="1"/>
            <p:nvPr/>
          </p:nvSpPr>
          <p:spPr>
            <a:xfrm>
              <a:off x="7577666" y="6614584"/>
              <a:ext cx="2127250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latin typeface="Calibri Light"/>
                  <a:ea typeface="Calibri Light"/>
                  <a:cs typeface="Calibri Light"/>
                </a:rPr>
                <a:t>(PMI, 2023)</a:t>
              </a: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937CC9D2-9912-651D-D094-3DE56A49CE3C}"/>
                </a:ext>
              </a:extLst>
            </p:cNvPr>
            <p:cNvSpPr/>
            <p:nvPr/>
          </p:nvSpPr>
          <p:spPr>
            <a:xfrm rot="5400000">
              <a:off x="8429624" y="1328209"/>
              <a:ext cx="1132416" cy="529166"/>
            </a:xfrm>
            <a:prstGeom prst="triangl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477619A-F240-B3B0-4527-5E78BCA9B2D1}"/>
              </a:ext>
            </a:extLst>
          </p:cNvPr>
          <p:cNvGrpSpPr/>
          <p:nvPr/>
        </p:nvGrpSpPr>
        <p:grpSpPr>
          <a:xfrm>
            <a:off x="2709334" y="-1"/>
            <a:ext cx="3460748" cy="6860805"/>
            <a:chOff x="2698751" y="-10584"/>
            <a:chExt cx="3460748" cy="686080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5FD1834-16A9-0067-A42B-7216DEC9213B}"/>
                </a:ext>
              </a:extLst>
            </p:cNvPr>
            <p:cNvGrpSpPr/>
            <p:nvPr/>
          </p:nvGrpSpPr>
          <p:grpSpPr>
            <a:xfrm>
              <a:off x="2698751" y="-10584"/>
              <a:ext cx="2923116" cy="6857999"/>
              <a:chOff x="2709333" y="-1"/>
              <a:chExt cx="2923116" cy="685799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E7A243-B6E5-5C2E-0387-7681FCF54A85}"/>
                  </a:ext>
                </a:extLst>
              </p:cNvPr>
              <p:cNvSpPr/>
              <p:nvPr/>
            </p:nvSpPr>
            <p:spPr>
              <a:xfrm>
                <a:off x="2709333" y="-1"/>
                <a:ext cx="2920999" cy="6857999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DEAEC-0FB7-F00D-63D8-75EBD1D07360}"/>
                  </a:ext>
                </a:extLst>
              </p:cNvPr>
              <p:cNvSpPr txBox="1"/>
              <p:nvPr/>
            </p:nvSpPr>
            <p:spPr>
              <a:xfrm>
                <a:off x="2889249" y="1513416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Late Risk Detection in Waterfall</a:t>
                </a:r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6D7EDC-2E49-1BDD-A2D2-664E74D6BAAB}"/>
                  </a:ext>
                </a:extLst>
              </p:cNvPr>
              <p:cNvSpPr txBox="1"/>
              <p:nvPr/>
            </p:nvSpPr>
            <p:spPr>
              <a:xfrm>
                <a:off x="2804583" y="2677583"/>
                <a:ext cx="2743200" cy="120032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>
                    <a:ea typeface="+mn-lt"/>
                    <a:cs typeface="+mn-lt"/>
                  </a:rPr>
                  <a:t>Defects and misalignment often surface near project completion.</a:t>
                </a:r>
                <a:endParaRPr lang="en-US"/>
              </a:p>
            </p:txBody>
          </p:sp>
        </p:grp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55FC7978-9FA3-147B-A487-7B8AE47BEC45}"/>
                </a:ext>
              </a:extLst>
            </p:cNvPr>
            <p:cNvSpPr/>
            <p:nvPr/>
          </p:nvSpPr>
          <p:spPr>
            <a:xfrm rot="5400000">
              <a:off x="5328708" y="1444625"/>
              <a:ext cx="1132416" cy="529166"/>
            </a:xfrm>
            <a:prstGeom prst="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C452D0-7A8B-83E5-6C37-8D37E6687D51}"/>
                </a:ext>
              </a:extLst>
            </p:cNvPr>
            <p:cNvSpPr txBox="1"/>
            <p:nvPr/>
          </p:nvSpPr>
          <p:spPr>
            <a:xfrm>
              <a:off x="2804583" y="3841750"/>
              <a:ext cx="2709333" cy="206210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Sequential phase gates delay validation activities.</a:t>
              </a:r>
              <a:endParaRPr lang="en-US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Testing typically occurs after development phases conclude.</a:t>
              </a:r>
              <a:endParaRPr lang="en-US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Agile integrates continuous testing within each sprint cycle.</a:t>
              </a:r>
              <a:endParaRPr lang="en-US">
                <a:latin typeface="Calibri Light"/>
                <a:ea typeface="Calibri Light"/>
                <a:cs typeface="Calibri Ligh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06167DA-AD75-B820-6DF4-51F9DC7CF101}"/>
                </a:ext>
              </a:extLst>
            </p:cNvPr>
            <p:cNvSpPr txBox="1"/>
            <p:nvPr/>
          </p:nvSpPr>
          <p:spPr>
            <a:xfrm>
              <a:off x="3439583" y="6604000"/>
              <a:ext cx="218016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ea typeface="+mn-lt"/>
                  <a:cs typeface="+mn-lt"/>
                </a:rPr>
                <a:t>(PMI, 2023; Thesing et al., 2021)</a:t>
              </a:r>
              <a:endParaRPr lang="en-US">
                <a:ea typeface="+mn-lt"/>
                <a:cs typeface="+mn-lt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15F0D5-673B-D8DB-31ED-7AC3F9485CD2}"/>
              </a:ext>
            </a:extLst>
          </p:cNvPr>
          <p:cNvGrpSpPr/>
          <p:nvPr/>
        </p:nvGrpSpPr>
        <p:grpSpPr>
          <a:xfrm>
            <a:off x="0" y="0"/>
            <a:ext cx="3227915" cy="6857999"/>
            <a:chOff x="0" y="0"/>
            <a:chExt cx="3227915" cy="685799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A9591C0-A275-1E69-F34F-E6AF9F97A1A2}"/>
                </a:ext>
              </a:extLst>
            </p:cNvPr>
            <p:cNvGrpSpPr/>
            <p:nvPr/>
          </p:nvGrpSpPr>
          <p:grpSpPr>
            <a:xfrm>
              <a:off x="0" y="0"/>
              <a:ext cx="3227915" cy="6857999"/>
              <a:chOff x="0" y="0"/>
              <a:chExt cx="3227915" cy="685799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1EE77E8-55B8-344D-CDC6-3C1ECCDBC6C6}"/>
                  </a:ext>
                </a:extLst>
              </p:cNvPr>
              <p:cNvGrpSpPr/>
              <p:nvPr/>
            </p:nvGrpSpPr>
            <p:grpSpPr>
              <a:xfrm>
                <a:off x="0" y="0"/>
                <a:ext cx="2743200" cy="6857999"/>
                <a:chOff x="-222250" y="317500"/>
                <a:chExt cx="2743200" cy="6857999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10807852-6710-4864-BD03-A3442C646A6A}"/>
                    </a:ext>
                  </a:extLst>
                </p:cNvPr>
                <p:cNvSpPr/>
                <p:nvPr/>
              </p:nvSpPr>
              <p:spPr>
                <a:xfrm>
                  <a:off x="-222250" y="317500"/>
                  <a:ext cx="2709332" cy="6857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2530875-DC56-9A12-F129-15390FD106F2}"/>
                    </a:ext>
                  </a:extLst>
                </p:cNvPr>
                <p:cNvSpPr txBox="1"/>
                <p:nvPr/>
              </p:nvSpPr>
              <p:spPr>
                <a:xfrm>
                  <a:off x="-222250" y="1830916"/>
                  <a:ext cx="2743200" cy="646331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 dirty="0">
                      <a:latin typeface="Calibri Light"/>
                      <a:ea typeface="Calibri Light"/>
                      <a:cs typeface="Calibri Light"/>
                    </a:rPr>
                    <a:t>Evolving Client </a:t>
                  </a:r>
                  <a:r>
                    <a:rPr lang="en-US" b="1">
                      <a:latin typeface="Calibri Light"/>
                      <a:ea typeface="Calibri Light"/>
                      <a:cs typeface="Calibri Light"/>
                    </a:rPr>
                    <a:t>Requirements</a:t>
                  </a:r>
                  <a:endParaRPr lang="en-US" b="1" dirty="0">
                    <a:latin typeface="Calibri Light"/>
                    <a:ea typeface="Calibri Light"/>
                    <a:cs typeface="Calibri Light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25FB0DA-25E2-AB4B-975D-8EDC28D0F6B7}"/>
                    </a:ext>
                  </a:extLst>
                </p:cNvPr>
                <p:cNvSpPr txBox="1"/>
                <p:nvPr/>
              </p:nvSpPr>
              <p:spPr>
                <a:xfrm>
                  <a:off x="-52917" y="3005665"/>
                  <a:ext cx="2372784" cy="92333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dirty="0">
                      <a:latin typeface="Calibri Light"/>
                      <a:ea typeface="Calibri Light"/>
                      <a:cs typeface="Calibri Light"/>
                    </a:rPr>
                    <a:t>Frequent requirement changes increase </a:t>
                  </a:r>
                  <a:r>
                    <a:rPr lang="en-US">
                      <a:latin typeface="Calibri Light"/>
                      <a:ea typeface="Calibri Light"/>
                      <a:cs typeface="Calibri Light"/>
                    </a:rPr>
                    <a:t>rework </a:t>
                  </a:r>
                  <a:r>
                    <a:rPr lang="en-US" dirty="0">
                      <a:latin typeface="Calibri Light"/>
                      <a:ea typeface="Calibri Light"/>
                      <a:cs typeface="Calibri Light"/>
                    </a:rPr>
                    <a:t>risk.</a:t>
                  </a:r>
                </a:p>
              </p:txBody>
            </p:sp>
          </p:grp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DD4CD6F6-342E-BB93-8D93-2E283EA3BC58}"/>
                  </a:ext>
                </a:extLst>
              </p:cNvPr>
              <p:cNvSpPr/>
              <p:nvPr/>
            </p:nvSpPr>
            <p:spPr>
              <a:xfrm rot="5400000">
                <a:off x="2397124" y="1444625"/>
                <a:ext cx="1132416" cy="529166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1E546A0-453F-16EC-CCDB-B07EDB568803}"/>
                </a:ext>
              </a:extLst>
            </p:cNvPr>
            <p:cNvSpPr txBox="1"/>
            <p:nvPr/>
          </p:nvSpPr>
          <p:spPr>
            <a:xfrm>
              <a:off x="158749" y="3799417"/>
              <a:ext cx="2391833" cy="280076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Traditional upfront planning limits adaptability to shifting priorities.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Agile frameworks enable iterative backlog reprioritization.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Calibri Light"/>
                  <a:ea typeface="Calibri Light"/>
                  <a:cs typeface="Calibri Light"/>
                </a:rPr>
                <a:t>Incremental planning reduces long-term change exposure.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D8F31AE-68D8-21E9-0E37-663FC13DBA7B}"/>
                </a:ext>
              </a:extLst>
            </p:cNvPr>
            <p:cNvSpPr txBox="1"/>
            <p:nvPr/>
          </p:nvSpPr>
          <p:spPr>
            <a:xfrm>
              <a:off x="1026583" y="6604000"/>
              <a:ext cx="205316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latin typeface="Calibri Light"/>
                  <a:ea typeface="Calibri Light"/>
                  <a:cs typeface="Calibri Light"/>
                </a:rPr>
                <a:t>(PMI &amp; Agile Alliance, 2021)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057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14E62-2CED-AE27-17D9-C23C84831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1E51-EB00-E685-AF92-96BBB7708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950" y="365125"/>
            <a:ext cx="7816850" cy="3230563"/>
          </a:xfrm>
        </p:spPr>
        <p:txBody>
          <a:bodyPr/>
          <a:lstStyle/>
          <a:p>
            <a:pPr algn="ctr"/>
            <a:r>
              <a:rPr lang="en-US" sz="4000">
                <a:latin typeface="Calibri Light"/>
                <a:ea typeface="Calibri Light"/>
                <a:cs typeface="Calibri Light"/>
              </a:rPr>
              <a:t>Scrum-Agile Roles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50781-7F4F-63AC-9FCC-10EF55D6143F}"/>
              </a:ext>
            </a:extLst>
          </p:cNvPr>
          <p:cNvSpPr txBox="1"/>
          <p:nvPr/>
        </p:nvSpPr>
        <p:spPr>
          <a:xfrm>
            <a:off x="338666" y="19685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619D59-7B53-9E9B-B603-E8522126E54E}"/>
              </a:ext>
            </a:extLst>
          </p:cNvPr>
          <p:cNvGrpSpPr/>
          <p:nvPr/>
        </p:nvGrpSpPr>
        <p:grpSpPr>
          <a:xfrm>
            <a:off x="-201276" y="-1"/>
            <a:ext cx="4582776" cy="6857999"/>
            <a:chOff x="8180724" y="169333"/>
            <a:chExt cx="4582776" cy="68579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CB804A2-B7B0-7E25-14E8-DF4EB4618DE2}"/>
                </a:ext>
              </a:extLst>
            </p:cNvPr>
            <p:cNvGrpSpPr/>
            <p:nvPr/>
          </p:nvGrpSpPr>
          <p:grpSpPr>
            <a:xfrm>
              <a:off x="8180724" y="169333"/>
              <a:ext cx="4582776" cy="6857999"/>
              <a:chOff x="9091084" y="84666"/>
              <a:chExt cx="3542713" cy="685799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38ED2A0-5DBE-CEFB-B2D7-A7A942F095E9}"/>
                  </a:ext>
                </a:extLst>
              </p:cNvPr>
              <p:cNvSpPr/>
              <p:nvPr/>
            </p:nvSpPr>
            <p:spPr>
              <a:xfrm>
                <a:off x="9173048" y="84666"/>
                <a:ext cx="3460749" cy="68579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DAEB20-18A3-30DC-50F4-64E3E79D34B6}"/>
                  </a:ext>
                </a:extLst>
              </p:cNvPr>
              <p:cNvSpPr txBox="1"/>
              <p:nvPr/>
            </p:nvSpPr>
            <p:spPr>
              <a:xfrm>
                <a:off x="9165166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Development Team</a:t>
                </a:r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20C4DD-F09B-99FB-71F6-B4F79B8819DC}"/>
                  </a:ext>
                </a:extLst>
              </p:cNvPr>
              <p:cNvSpPr txBox="1"/>
              <p:nvPr/>
            </p:nvSpPr>
            <p:spPr>
              <a:xfrm>
                <a:off x="9091084" y="2677582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 dirty="0">
                    <a:latin typeface="Calibri Light"/>
                    <a:ea typeface="Calibri Light"/>
                    <a:cs typeface="Calibri Light"/>
                  </a:rPr>
                  <a:t>Delivers functional product </a:t>
                </a:r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increments each sprint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7DE115-C791-0BB0-4528-0F4C30C79EEF}"/>
                </a:ext>
              </a:extLst>
            </p:cNvPr>
            <p:cNvSpPr txBox="1"/>
            <p:nvPr/>
          </p:nvSpPr>
          <p:spPr>
            <a:xfrm>
              <a:off x="8572500" y="3778250"/>
              <a:ext cx="3714750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Cross-functional and self-organizing</a:t>
              </a:r>
              <a:endParaRPr lang="en-US" dirty="0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Implements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 prioritized backlog </a:t>
              </a:r>
              <a:r>
                <a:rPr lang="en-US">
                  <a:latin typeface="Calibri Light"/>
                  <a:ea typeface="Calibri Light"/>
                  <a:cs typeface="Calibri Light"/>
                </a:rPr>
                <a:t>items</a:t>
              </a:r>
              <a:endParaRPr lang="en-US" dirty="0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Integrates continuous testing within sprints</a:t>
              </a:r>
              <a:endParaRPr lang="en-US" dirty="0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Produces potentially 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shippable increments</a:t>
              </a:r>
              <a:endParaRPr lang="en-US">
                <a:latin typeface="Calibri Light"/>
                <a:ea typeface="Calibri Light"/>
                <a:cs typeface="Calibri Light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F7FCB8-3AE1-5EAE-DE94-DE24AB3E68CC}"/>
                </a:ext>
              </a:extLst>
            </p:cNvPr>
            <p:cNvSpPr txBox="1"/>
            <p:nvPr/>
          </p:nvSpPr>
          <p:spPr>
            <a:xfrm>
              <a:off x="8784167" y="6445250"/>
              <a:ext cx="294216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dirty="0">
                  <a:latin typeface="Calibri Light"/>
                  <a:ea typeface="Calibri Light"/>
                  <a:cs typeface="Calibri Light"/>
                </a:rPr>
                <a:t>(</a:t>
              </a:r>
              <a:r>
                <a:rPr lang="en-US" sz="1000" dirty="0" err="1">
                  <a:latin typeface="Calibri Light"/>
                  <a:ea typeface="Calibri Light"/>
                  <a:cs typeface="Calibri Light"/>
                </a:rPr>
                <a:t>Kuhrmann</a:t>
              </a:r>
              <a:r>
                <a:rPr lang="en-US" sz="1000" dirty="0">
                  <a:latin typeface="Calibri Light"/>
                  <a:ea typeface="Calibri Light"/>
                  <a:cs typeface="Calibri Light"/>
                </a:rPr>
                <a:t> et al., 2022; PMI, 2023)</a:t>
              </a:r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B1022A-A2D9-4840-8620-05C084C90221}"/>
              </a:ext>
            </a:extLst>
          </p:cNvPr>
          <p:cNvGrpSpPr/>
          <p:nvPr/>
        </p:nvGrpSpPr>
        <p:grpSpPr>
          <a:xfrm>
            <a:off x="-95250" y="0"/>
            <a:ext cx="4783664" cy="6857999"/>
            <a:chOff x="3534834" y="10583"/>
            <a:chExt cx="4783664" cy="68579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E61F5B9-CB79-3C79-AA49-88F11C1AEF05}"/>
                </a:ext>
              </a:extLst>
            </p:cNvPr>
            <p:cNvGrpSpPr/>
            <p:nvPr/>
          </p:nvGrpSpPr>
          <p:grpSpPr>
            <a:xfrm>
              <a:off x="3534834" y="10583"/>
              <a:ext cx="4783664" cy="6857999"/>
              <a:chOff x="5630334" y="0"/>
              <a:chExt cx="3630081" cy="685799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21663A3-3113-1041-67FC-96DD4752A390}"/>
                  </a:ext>
                </a:extLst>
              </p:cNvPr>
              <p:cNvSpPr/>
              <p:nvPr/>
            </p:nvSpPr>
            <p:spPr>
              <a:xfrm>
                <a:off x="5630334" y="0"/>
                <a:ext cx="3100915" cy="685799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158C39-F0C1-161F-12AC-4AFAB5F58E6F}"/>
                  </a:ext>
                </a:extLst>
              </p:cNvPr>
              <p:cNvSpPr txBox="1"/>
              <p:nvPr/>
            </p:nvSpPr>
            <p:spPr>
              <a:xfrm>
                <a:off x="5810250" y="1598083"/>
                <a:ext cx="2719106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Scrum Master</a:t>
                </a:r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4F9DEF-6E90-D64A-DEC2-BC0F2E07B932}"/>
                  </a:ext>
                </a:extLst>
              </p:cNvPr>
              <p:cNvSpPr txBox="1"/>
              <p:nvPr/>
            </p:nvSpPr>
            <p:spPr>
              <a:xfrm>
                <a:off x="5810249" y="2677583"/>
                <a:ext cx="2743200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Ensures effective implementation of Scrum</a:t>
                </a:r>
                <a:endParaRPr lang="en-US" b="1" dirty="0">
                  <a:latin typeface="Calibri Light"/>
                  <a:ea typeface="Calibri Light"/>
                  <a:cs typeface="Calibri Light"/>
                </a:endParaRPr>
              </a:p>
              <a:p>
                <a:pPr algn="l"/>
                <a:endParaRPr lang="en-US" b="1" dirty="0">
                  <a:latin typeface="Calibri Light"/>
                  <a:ea typeface="Calibri Light"/>
                  <a:cs typeface="Calibri Light"/>
                </a:endParaRPr>
              </a:p>
            </p:txBody>
          </p:sp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51C46269-CCB3-B243-7053-4964BEBF17CB}"/>
                  </a:ext>
                </a:extLst>
              </p:cNvPr>
              <p:cNvSpPr/>
              <p:nvPr/>
            </p:nvSpPr>
            <p:spPr>
              <a:xfrm rot="5400000">
                <a:off x="8429624" y="1444625"/>
                <a:ext cx="1132416" cy="529166"/>
              </a:xfrm>
              <a:prstGeom prst="triangl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2184A3-B4B9-547D-FD8C-A653119E89A3}"/>
                </a:ext>
              </a:extLst>
            </p:cNvPr>
            <p:cNvSpPr txBox="1"/>
            <p:nvPr/>
          </p:nvSpPr>
          <p:spPr>
            <a:xfrm>
              <a:off x="4064000" y="3704166"/>
              <a:ext cx="3323166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dirty="0">
                  <a:latin typeface="Calibri Light"/>
                  <a:ea typeface="Calibri Light"/>
                  <a:cs typeface="Calibri Light"/>
                </a:rPr>
                <a:t>Facilitates sprint planning, </a:t>
              </a:r>
              <a:r>
                <a:rPr lang="en-US">
                  <a:latin typeface="Calibri Light"/>
                  <a:ea typeface="Calibri Light"/>
                  <a:cs typeface="Calibri Light"/>
                </a:rPr>
                <a:t>reviews, and retrospectives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Removes impediments that impact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 team progress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Protects the team from 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scope </a:t>
              </a:r>
              <a:r>
                <a:rPr lang="en-US">
                  <a:latin typeface="Calibri Light"/>
                  <a:ea typeface="Calibri Light"/>
                  <a:cs typeface="Calibri Light"/>
                </a:rPr>
                <a:t>disruption</a:t>
              </a:r>
              <a:endParaRPr lang="en-US">
                <a:latin typeface="Aptos" panose="020B0004020202020204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Promotes continuous 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improvement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3057C0-BD13-3F84-3F1A-17C1A8D7CADC}"/>
                </a:ext>
              </a:extLst>
            </p:cNvPr>
            <p:cNvSpPr txBox="1"/>
            <p:nvPr/>
          </p:nvSpPr>
          <p:spPr>
            <a:xfrm>
              <a:off x="4233333" y="6498166"/>
              <a:ext cx="325966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>
                  <a:latin typeface="Calibri Light"/>
                  <a:ea typeface="Calibri Light"/>
                  <a:cs typeface="Calibri Light"/>
                </a:rPr>
                <a:t>(PMI &amp; Agile Alliance, 2021)</a:t>
              </a:r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FB8A44-D067-0C75-4A28-E2E35B38BDFE}"/>
              </a:ext>
            </a:extLst>
          </p:cNvPr>
          <p:cNvGrpSpPr/>
          <p:nvPr/>
        </p:nvGrpSpPr>
        <p:grpSpPr>
          <a:xfrm>
            <a:off x="1" y="0"/>
            <a:ext cx="4381499" cy="6857999"/>
            <a:chOff x="1" y="0"/>
            <a:chExt cx="4381499" cy="68579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F4F99DD-F2B5-6335-9B0C-032D4E76A64A}"/>
                </a:ext>
              </a:extLst>
            </p:cNvPr>
            <p:cNvGrpSpPr/>
            <p:nvPr/>
          </p:nvGrpSpPr>
          <p:grpSpPr>
            <a:xfrm>
              <a:off x="1" y="0"/>
              <a:ext cx="4381499" cy="6857999"/>
              <a:chOff x="0" y="0"/>
              <a:chExt cx="3238499" cy="685799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29838F3-0D1C-B9D6-C35D-66FA67086D82}"/>
                  </a:ext>
                </a:extLst>
              </p:cNvPr>
              <p:cNvSpPr/>
              <p:nvPr/>
            </p:nvSpPr>
            <p:spPr>
              <a:xfrm>
                <a:off x="0" y="0"/>
                <a:ext cx="2709332" cy="6857999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C71B4D-2BF6-95CC-E6A4-5806A9B6CF02}"/>
                  </a:ext>
                </a:extLst>
              </p:cNvPr>
              <p:cNvSpPr txBox="1"/>
              <p:nvPr/>
            </p:nvSpPr>
            <p:spPr>
              <a:xfrm>
                <a:off x="0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Product Owner</a:t>
                </a:r>
                <a:endParaRPr lang="en-US" b="1" dirty="0">
                  <a:latin typeface="Calibri Light"/>
                  <a:ea typeface="Calibri Light"/>
                  <a:cs typeface="Calibri Light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958F04-3226-9EBF-23F4-ADED8080C556}"/>
                  </a:ext>
                </a:extLst>
              </p:cNvPr>
              <p:cNvSpPr txBox="1"/>
              <p:nvPr/>
            </p:nvSpPr>
            <p:spPr>
              <a:xfrm>
                <a:off x="169333" y="2603499"/>
                <a:ext cx="2372784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Maximizes product value and prioritizes work</a:t>
                </a:r>
              </a:p>
              <a:p>
                <a:pPr algn="ctr"/>
                <a:endParaRPr lang="en-US" dirty="0">
                  <a:latin typeface="Calibri Light"/>
                  <a:ea typeface="Calibri Light"/>
                  <a:cs typeface="Calibri Light"/>
                </a:endParaRPr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83210B5E-5916-4EC0-AFC5-0E49FCD3E4FC}"/>
                  </a:ext>
                </a:extLst>
              </p:cNvPr>
              <p:cNvSpPr/>
              <p:nvPr/>
            </p:nvSpPr>
            <p:spPr>
              <a:xfrm rot="5400000">
                <a:off x="2407708" y="1444625"/>
                <a:ext cx="1132416" cy="529166"/>
              </a:xfrm>
              <a:prstGeom prst="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E01FF2C-437C-0CB4-E2BC-6C3239404CC7}"/>
                </a:ext>
              </a:extLst>
            </p:cNvPr>
            <p:cNvSpPr txBox="1"/>
            <p:nvPr/>
          </p:nvSpPr>
          <p:spPr>
            <a:xfrm>
              <a:off x="306916" y="3661833"/>
              <a:ext cx="3026833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dirty="0">
                  <a:latin typeface="Calibri Light"/>
                  <a:ea typeface="Calibri Light"/>
                  <a:cs typeface="Calibri Light"/>
                </a:rPr>
                <a:t>Owns and refines the </a:t>
              </a:r>
              <a:r>
                <a:rPr lang="en-US">
                  <a:latin typeface="Calibri Light"/>
                  <a:ea typeface="Calibri Light"/>
                  <a:cs typeface="Calibri Light"/>
                </a:rPr>
                <a:t>product backlog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dirty="0">
                  <a:latin typeface="Calibri Light"/>
                  <a:ea typeface="Calibri Light"/>
                  <a:cs typeface="Calibri Light"/>
                </a:rPr>
                <a:t>Aligns development with business </a:t>
              </a:r>
              <a:r>
                <a:rPr lang="en-US">
                  <a:latin typeface="Calibri Light"/>
                  <a:ea typeface="Calibri Light"/>
                  <a:cs typeface="Calibri Light"/>
                </a:rPr>
                <a:t>objectives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dirty="0">
                  <a:latin typeface="Calibri Light"/>
                  <a:ea typeface="Calibri Light"/>
                  <a:cs typeface="Calibri Light"/>
                </a:rPr>
                <a:t>Represents stakeholder interests/business priorities</a:t>
              </a:r>
              <a:endParaRPr lang="en-US" dirty="0">
                <a:latin typeface="Aptos" panose="020B0004020202020204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Prioritizes features based 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on value and risk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41A51E7-FE23-AAEB-0D74-A1236192A913}"/>
                </a:ext>
              </a:extLst>
            </p:cNvPr>
            <p:cNvSpPr txBox="1"/>
            <p:nvPr/>
          </p:nvSpPr>
          <p:spPr>
            <a:xfrm>
              <a:off x="709083" y="6551083"/>
              <a:ext cx="2709333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>
                  <a:latin typeface="Calibri Light"/>
                  <a:ea typeface="Calibri Light"/>
                  <a:cs typeface="Calibri Light"/>
                </a:rPr>
                <a:t>(PMI &amp; Agile Alliance, 2021)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2980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9B687-3940-B0E0-2BE1-D7908D19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D0A8-AF57-D412-6FD2-02E57CAED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950" y="365125"/>
            <a:ext cx="7816850" cy="3230563"/>
          </a:xfrm>
        </p:spPr>
        <p:txBody>
          <a:bodyPr/>
          <a:lstStyle/>
          <a:p>
            <a:pPr algn="ctr"/>
            <a:r>
              <a:rPr lang="en-US" sz="4000">
                <a:latin typeface="Calibri Light"/>
                <a:ea typeface="Calibri Light"/>
                <a:cs typeface="Calibri Light"/>
              </a:rPr>
              <a:t>Scrum-Agile Roles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7FAB5-B6BB-A8D4-9E2B-A22D1913D76B}"/>
              </a:ext>
            </a:extLst>
          </p:cNvPr>
          <p:cNvSpPr txBox="1"/>
          <p:nvPr/>
        </p:nvSpPr>
        <p:spPr>
          <a:xfrm>
            <a:off x="338666" y="19685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DBD4EC-5547-F425-9259-1F98963F4B04}"/>
              </a:ext>
            </a:extLst>
          </p:cNvPr>
          <p:cNvGrpSpPr/>
          <p:nvPr/>
        </p:nvGrpSpPr>
        <p:grpSpPr>
          <a:xfrm>
            <a:off x="7609224" y="-1"/>
            <a:ext cx="4582776" cy="6857999"/>
            <a:chOff x="8180724" y="169333"/>
            <a:chExt cx="4582776" cy="68579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76007CA-8786-0F66-6E07-8AFDE4243D72}"/>
                </a:ext>
              </a:extLst>
            </p:cNvPr>
            <p:cNvGrpSpPr/>
            <p:nvPr/>
          </p:nvGrpSpPr>
          <p:grpSpPr>
            <a:xfrm>
              <a:off x="8180724" y="169333"/>
              <a:ext cx="4582776" cy="6857999"/>
              <a:chOff x="9091084" y="84666"/>
              <a:chExt cx="3542713" cy="685799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26CF810-E025-6793-DBFB-B371144B34D1}"/>
                  </a:ext>
                </a:extLst>
              </p:cNvPr>
              <p:cNvSpPr/>
              <p:nvPr/>
            </p:nvSpPr>
            <p:spPr>
              <a:xfrm>
                <a:off x="9173048" y="84666"/>
                <a:ext cx="3460749" cy="68579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DD54F02-DF5E-4EC2-620C-868D4E8FDE6A}"/>
                  </a:ext>
                </a:extLst>
              </p:cNvPr>
              <p:cNvSpPr txBox="1"/>
              <p:nvPr/>
            </p:nvSpPr>
            <p:spPr>
              <a:xfrm>
                <a:off x="9165166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Development Team</a:t>
                </a:r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252BDE-B8F7-C144-5B5E-5727D88AEF29}"/>
                  </a:ext>
                </a:extLst>
              </p:cNvPr>
              <p:cNvSpPr txBox="1"/>
              <p:nvPr/>
            </p:nvSpPr>
            <p:spPr>
              <a:xfrm>
                <a:off x="9091084" y="2677582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 dirty="0">
                    <a:latin typeface="Calibri Light"/>
                    <a:ea typeface="Calibri Light"/>
                    <a:cs typeface="Calibri Light"/>
                  </a:rPr>
                  <a:t>Delivers functional product </a:t>
                </a:r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increments each sprint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A8E34B7-5188-D544-09DB-5349356B67EB}"/>
                </a:ext>
              </a:extLst>
            </p:cNvPr>
            <p:cNvSpPr txBox="1"/>
            <p:nvPr/>
          </p:nvSpPr>
          <p:spPr>
            <a:xfrm>
              <a:off x="8572500" y="3778250"/>
              <a:ext cx="3714750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Cross-functional and self-organizing</a:t>
              </a:r>
              <a:endParaRPr lang="en-US" dirty="0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Implements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 prioritized backlog </a:t>
              </a:r>
              <a:r>
                <a:rPr lang="en-US">
                  <a:latin typeface="Calibri Light"/>
                  <a:ea typeface="Calibri Light"/>
                  <a:cs typeface="Calibri Light"/>
                </a:rPr>
                <a:t>items</a:t>
              </a:r>
              <a:endParaRPr lang="en-US" dirty="0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Integrates continuous testing within sprints</a:t>
              </a:r>
              <a:endParaRPr lang="en-US" dirty="0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Produces potentially 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shippable increments</a:t>
              </a:r>
              <a:endParaRPr lang="en-US">
                <a:latin typeface="Calibri Light"/>
                <a:ea typeface="Calibri Light"/>
                <a:cs typeface="Calibri Light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8175D25-9A8A-63BD-946D-F44F9A6DC6A3}"/>
                </a:ext>
              </a:extLst>
            </p:cNvPr>
            <p:cNvSpPr txBox="1"/>
            <p:nvPr/>
          </p:nvSpPr>
          <p:spPr>
            <a:xfrm>
              <a:off x="8974667" y="6614583"/>
              <a:ext cx="294216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>
                  <a:ea typeface="+mn-lt"/>
                  <a:cs typeface="+mn-lt"/>
                </a:rPr>
                <a:t>(PMI &amp; Agile Alliance, 2021; PMI, 2023)</a:t>
              </a:r>
              <a:endParaRPr lang="en-US">
                <a:ea typeface="+mn-lt"/>
                <a:cs typeface="+mn-lt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FDAABC7-45D1-3E61-65F7-8BD9B655E63E}"/>
              </a:ext>
            </a:extLst>
          </p:cNvPr>
          <p:cNvGrpSpPr/>
          <p:nvPr/>
        </p:nvGrpSpPr>
        <p:grpSpPr>
          <a:xfrm>
            <a:off x="3619500" y="0"/>
            <a:ext cx="4783664" cy="6857999"/>
            <a:chOff x="3534834" y="10583"/>
            <a:chExt cx="4783664" cy="68579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A00EE64-AA28-D36E-EFAC-2EBDF238615A}"/>
                </a:ext>
              </a:extLst>
            </p:cNvPr>
            <p:cNvGrpSpPr/>
            <p:nvPr/>
          </p:nvGrpSpPr>
          <p:grpSpPr>
            <a:xfrm>
              <a:off x="3534834" y="10583"/>
              <a:ext cx="4783664" cy="6857999"/>
              <a:chOff x="5630334" y="0"/>
              <a:chExt cx="3630081" cy="685799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7D30ABC-651D-D2A1-8A9C-4862ADFAE13D}"/>
                  </a:ext>
                </a:extLst>
              </p:cNvPr>
              <p:cNvSpPr/>
              <p:nvPr/>
            </p:nvSpPr>
            <p:spPr>
              <a:xfrm>
                <a:off x="5630334" y="0"/>
                <a:ext cx="3100915" cy="685799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928514-C477-B915-D42E-F079FA1D01E4}"/>
                  </a:ext>
                </a:extLst>
              </p:cNvPr>
              <p:cNvSpPr txBox="1"/>
              <p:nvPr/>
            </p:nvSpPr>
            <p:spPr>
              <a:xfrm>
                <a:off x="5810250" y="1598083"/>
                <a:ext cx="2719106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Scrum Master</a:t>
                </a:r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A8C11E1-7C27-6ECC-DEC7-CF54135E0CF2}"/>
                  </a:ext>
                </a:extLst>
              </p:cNvPr>
              <p:cNvSpPr txBox="1"/>
              <p:nvPr/>
            </p:nvSpPr>
            <p:spPr>
              <a:xfrm>
                <a:off x="5810249" y="2677583"/>
                <a:ext cx="2743200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Ensures effective implementation of Scrum</a:t>
                </a:r>
                <a:endParaRPr lang="en-US" b="1" dirty="0">
                  <a:latin typeface="Calibri Light"/>
                  <a:ea typeface="Calibri Light"/>
                  <a:cs typeface="Calibri Light"/>
                </a:endParaRPr>
              </a:p>
              <a:p>
                <a:pPr algn="l"/>
                <a:endParaRPr lang="en-US" b="1" dirty="0">
                  <a:latin typeface="Calibri Light"/>
                  <a:ea typeface="Calibri Light"/>
                  <a:cs typeface="Calibri Light"/>
                </a:endParaRPr>
              </a:p>
            </p:txBody>
          </p:sp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168C522C-0D1D-8D54-C7F0-393690CBCEB6}"/>
                  </a:ext>
                </a:extLst>
              </p:cNvPr>
              <p:cNvSpPr/>
              <p:nvPr/>
            </p:nvSpPr>
            <p:spPr>
              <a:xfrm rot="5400000">
                <a:off x="8429624" y="1444625"/>
                <a:ext cx="1132416" cy="529166"/>
              </a:xfrm>
              <a:prstGeom prst="triangl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0A47A36-C5CF-29CD-99C1-F6595ED1427C}"/>
                </a:ext>
              </a:extLst>
            </p:cNvPr>
            <p:cNvSpPr txBox="1"/>
            <p:nvPr/>
          </p:nvSpPr>
          <p:spPr>
            <a:xfrm>
              <a:off x="4064000" y="3704166"/>
              <a:ext cx="3323166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dirty="0">
                  <a:latin typeface="Calibri Light"/>
                  <a:ea typeface="Calibri Light"/>
                  <a:cs typeface="Calibri Light"/>
                </a:rPr>
                <a:t>Facilitates sprint planning, </a:t>
              </a:r>
              <a:r>
                <a:rPr lang="en-US">
                  <a:latin typeface="Calibri Light"/>
                  <a:ea typeface="Calibri Light"/>
                  <a:cs typeface="Calibri Light"/>
                </a:rPr>
                <a:t>reviews, and retrospectives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Removes impediments that impact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 team progress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Protects the team from 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scope </a:t>
              </a:r>
              <a:r>
                <a:rPr lang="en-US">
                  <a:latin typeface="Calibri Light"/>
                  <a:ea typeface="Calibri Light"/>
                  <a:cs typeface="Calibri Light"/>
                </a:rPr>
                <a:t>disruption</a:t>
              </a:r>
              <a:endParaRPr lang="en-US">
                <a:latin typeface="Aptos" panose="020B0004020202020204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Promotes continuous 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improvement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28C9F5-F985-566B-0782-E3C7D8230E92}"/>
                </a:ext>
              </a:extLst>
            </p:cNvPr>
            <p:cNvSpPr txBox="1"/>
            <p:nvPr/>
          </p:nvSpPr>
          <p:spPr>
            <a:xfrm>
              <a:off x="4233333" y="6498166"/>
              <a:ext cx="325966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>
                  <a:latin typeface="Calibri Light"/>
                  <a:ea typeface="Calibri Light"/>
                  <a:cs typeface="Calibri Light"/>
                </a:rPr>
                <a:t>(PMI &amp; Agile Alliance, 2021)</a:t>
              </a:r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68D07B-3FBB-E896-FD80-12C753648DD8}"/>
              </a:ext>
            </a:extLst>
          </p:cNvPr>
          <p:cNvGrpSpPr/>
          <p:nvPr/>
        </p:nvGrpSpPr>
        <p:grpSpPr>
          <a:xfrm>
            <a:off x="1" y="0"/>
            <a:ext cx="4381499" cy="6857999"/>
            <a:chOff x="1" y="0"/>
            <a:chExt cx="4381499" cy="68579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720E28D-30C4-E68B-B9A6-3B0348F51A4B}"/>
                </a:ext>
              </a:extLst>
            </p:cNvPr>
            <p:cNvGrpSpPr/>
            <p:nvPr/>
          </p:nvGrpSpPr>
          <p:grpSpPr>
            <a:xfrm>
              <a:off x="1" y="0"/>
              <a:ext cx="4381499" cy="6857999"/>
              <a:chOff x="0" y="0"/>
              <a:chExt cx="3238499" cy="685799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8D14009-BEFD-87E8-C7B6-59DE830C6A83}"/>
                  </a:ext>
                </a:extLst>
              </p:cNvPr>
              <p:cNvSpPr/>
              <p:nvPr/>
            </p:nvSpPr>
            <p:spPr>
              <a:xfrm>
                <a:off x="0" y="0"/>
                <a:ext cx="2709332" cy="6857999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81DF8C-E1E9-7682-5DC2-E87AF4652369}"/>
                  </a:ext>
                </a:extLst>
              </p:cNvPr>
              <p:cNvSpPr txBox="1"/>
              <p:nvPr/>
            </p:nvSpPr>
            <p:spPr>
              <a:xfrm>
                <a:off x="0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Product Owner</a:t>
                </a:r>
                <a:endParaRPr lang="en-US" b="1" dirty="0">
                  <a:latin typeface="Calibri Light"/>
                  <a:ea typeface="Calibri Light"/>
                  <a:cs typeface="Calibri Light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DAD153-51D0-DE6D-9F8F-0B8F2A2E7782}"/>
                  </a:ext>
                </a:extLst>
              </p:cNvPr>
              <p:cNvSpPr txBox="1"/>
              <p:nvPr/>
            </p:nvSpPr>
            <p:spPr>
              <a:xfrm>
                <a:off x="169333" y="2603499"/>
                <a:ext cx="2372784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Maximizes product value and prioritizes work</a:t>
                </a:r>
              </a:p>
              <a:p>
                <a:pPr algn="ctr"/>
                <a:endParaRPr lang="en-US" dirty="0">
                  <a:latin typeface="Calibri Light"/>
                  <a:ea typeface="Calibri Light"/>
                  <a:cs typeface="Calibri Light"/>
                </a:endParaRPr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C9A49011-3367-6A6A-3140-E4C26CBD4EF4}"/>
                  </a:ext>
                </a:extLst>
              </p:cNvPr>
              <p:cNvSpPr/>
              <p:nvPr/>
            </p:nvSpPr>
            <p:spPr>
              <a:xfrm rot="5400000">
                <a:off x="2407708" y="1444625"/>
                <a:ext cx="1132416" cy="529166"/>
              </a:xfrm>
              <a:prstGeom prst="triangl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5B0CDEB-B2A1-BAEC-AC70-28C6FE89DAF4}"/>
                </a:ext>
              </a:extLst>
            </p:cNvPr>
            <p:cNvSpPr txBox="1"/>
            <p:nvPr/>
          </p:nvSpPr>
          <p:spPr>
            <a:xfrm>
              <a:off x="306916" y="3661833"/>
              <a:ext cx="3026833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dirty="0">
                  <a:latin typeface="Calibri Light"/>
                  <a:ea typeface="Calibri Light"/>
                  <a:cs typeface="Calibri Light"/>
                </a:rPr>
                <a:t>Owns and refines the </a:t>
              </a:r>
              <a:r>
                <a:rPr lang="en-US">
                  <a:latin typeface="Calibri Light"/>
                  <a:ea typeface="Calibri Light"/>
                  <a:cs typeface="Calibri Light"/>
                </a:rPr>
                <a:t>product backlog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dirty="0">
                  <a:latin typeface="Calibri Light"/>
                  <a:ea typeface="Calibri Light"/>
                  <a:cs typeface="Calibri Light"/>
                </a:rPr>
                <a:t>Aligns development with business </a:t>
              </a:r>
              <a:r>
                <a:rPr lang="en-US">
                  <a:latin typeface="Calibri Light"/>
                  <a:ea typeface="Calibri Light"/>
                  <a:cs typeface="Calibri Light"/>
                </a:rPr>
                <a:t>objectives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dirty="0">
                  <a:latin typeface="Calibri Light"/>
                  <a:ea typeface="Calibri Light"/>
                  <a:cs typeface="Calibri Light"/>
                </a:rPr>
                <a:t>Represents stakeholder interests/business priorities</a:t>
              </a:r>
              <a:endParaRPr lang="en-US" dirty="0">
                <a:latin typeface="Aptos" panose="020B0004020202020204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>
                  <a:latin typeface="Calibri Light"/>
                  <a:ea typeface="Calibri Light"/>
                  <a:cs typeface="Calibri Light"/>
                </a:rPr>
                <a:t>Prioritizes features based </a:t>
              </a:r>
              <a:r>
                <a:rPr lang="en-US" dirty="0">
                  <a:latin typeface="Calibri Light"/>
                  <a:ea typeface="Calibri Light"/>
                  <a:cs typeface="Calibri Light"/>
                </a:rPr>
                <a:t>on value and risk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EB37CF-F109-C88B-F083-7F7B6CB07CE6}"/>
                </a:ext>
              </a:extLst>
            </p:cNvPr>
            <p:cNvSpPr txBox="1"/>
            <p:nvPr/>
          </p:nvSpPr>
          <p:spPr>
            <a:xfrm>
              <a:off x="709083" y="6551083"/>
              <a:ext cx="2709333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>
                  <a:latin typeface="Calibri Light"/>
                  <a:ea typeface="Calibri Light"/>
                  <a:cs typeface="Calibri Light"/>
                </a:rPr>
                <a:t>(PMI &amp; Agile Alliance, 2021)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8733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89D86-B1FE-9283-8BF7-1ECBE67D1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DAA6-736A-E034-8C44-0D96FDC4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950" y="365125"/>
            <a:ext cx="7816850" cy="3230563"/>
          </a:xfrm>
        </p:spPr>
        <p:txBody>
          <a:bodyPr/>
          <a:lstStyle/>
          <a:p>
            <a:r>
              <a:rPr lang="en-US" sz="4000">
                <a:ea typeface="+mj-lt"/>
                <a:cs typeface="+mj-lt"/>
              </a:rPr>
              <a:t>How SDLC Phases Function Within an Agile Framework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63243-0446-CAA9-9602-B3E9CF81A348}"/>
              </a:ext>
            </a:extLst>
          </p:cNvPr>
          <p:cNvSpPr txBox="1"/>
          <p:nvPr/>
        </p:nvSpPr>
        <p:spPr>
          <a:xfrm>
            <a:off x="338666" y="19685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98BF997-638D-8555-2C96-4D1BF4B8B9B9}"/>
              </a:ext>
            </a:extLst>
          </p:cNvPr>
          <p:cNvSpPr/>
          <p:nvPr/>
        </p:nvSpPr>
        <p:spPr>
          <a:xfrm rot="5400000">
            <a:off x="2411942" y="1459442"/>
            <a:ext cx="1132416" cy="529166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3AD9A-5D1E-4D1F-4352-303D9D0E2E6D}"/>
              </a:ext>
            </a:extLst>
          </p:cNvPr>
          <p:cNvSpPr txBox="1"/>
          <p:nvPr/>
        </p:nvSpPr>
        <p:spPr>
          <a:xfrm>
            <a:off x="158750" y="3862916"/>
            <a:ext cx="2402416" cy="2264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784E79CD-10BE-DC9D-0FDF-722E684B5A24}"/>
              </a:ext>
            </a:extLst>
          </p:cNvPr>
          <p:cNvSpPr/>
          <p:nvPr/>
        </p:nvSpPr>
        <p:spPr>
          <a:xfrm rot="5400000">
            <a:off x="-297392" y="1459441"/>
            <a:ext cx="1132416" cy="529166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0C5557-2A11-F0C9-3EBB-C4759639BBBE}"/>
              </a:ext>
            </a:extLst>
          </p:cNvPr>
          <p:cNvGrpSpPr/>
          <p:nvPr/>
        </p:nvGrpSpPr>
        <p:grpSpPr>
          <a:xfrm>
            <a:off x="10583" y="84667"/>
            <a:ext cx="3630081" cy="6860805"/>
            <a:chOff x="5630334" y="0"/>
            <a:chExt cx="3630081" cy="686080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BBB3B4B-3776-4A33-124C-B5F336274DA6}"/>
                </a:ext>
              </a:extLst>
            </p:cNvPr>
            <p:cNvGrpSpPr/>
            <p:nvPr/>
          </p:nvGrpSpPr>
          <p:grpSpPr>
            <a:xfrm>
              <a:off x="5630334" y="0"/>
              <a:ext cx="3100915" cy="6857999"/>
              <a:chOff x="5630334" y="0"/>
              <a:chExt cx="3100915" cy="685799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B54485E-8434-F127-98AD-E6BE5A459E9A}"/>
                  </a:ext>
                </a:extLst>
              </p:cNvPr>
              <p:cNvSpPr/>
              <p:nvPr/>
            </p:nvSpPr>
            <p:spPr>
              <a:xfrm>
                <a:off x="5630334" y="0"/>
                <a:ext cx="3100915" cy="6857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E16588-F58D-F64E-E5EE-B9FFAC8A6A60}"/>
                  </a:ext>
                </a:extLst>
              </p:cNvPr>
              <p:cNvSpPr txBox="1"/>
              <p:nvPr/>
            </p:nvSpPr>
            <p:spPr>
              <a:xfrm>
                <a:off x="5810250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Testing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7D9E1B-D03D-1DDD-12CA-6F3652A6C872}"/>
                  </a:ext>
                </a:extLst>
              </p:cNvPr>
              <p:cNvSpPr txBox="1"/>
              <p:nvPr/>
            </p:nvSpPr>
            <p:spPr>
              <a:xfrm>
                <a:off x="5810249" y="2677583"/>
                <a:ext cx="2743200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Validation occurs throughout the sprint</a:t>
                </a:r>
                <a:endParaRPr lang="en-US" b="1"/>
              </a:p>
              <a:p>
                <a:pPr algn="l"/>
                <a:endParaRPr lang="en-US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9D7915-47B3-0ACE-B03D-6860AEB1B2A9}"/>
                </a:ext>
              </a:extLst>
            </p:cNvPr>
            <p:cNvSpPr txBox="1"/>
            <p:nvPr/>
          </p:nvSpPr>
          <p:spPr>
            <a:xfrm>
              <a:off x="5905499" y="3799416"/>
              <a:ext cx="2741083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Continuous testing within </a:t>
              </a:r>
              <a:r>
                <a:rPr lang="en-US" sz="1600">
                  <a:ea typeface="+mn-lt"/>
                  <a:cs typeface="+mn-lt"/>
                </a:rPr>
                <a:t>development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Defects addressed immediately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Increment reviewed </a:t>
              </a:r>
              <a:r>
                <a:rPr lang="en-US" sz="1600" dirty="0">
                  <a:ea typeface="+mn-lt"/>
                  <a:cs typeface="+mn-lt"/>
                </a:rPr>
                <a:t>before sprint close</a:t>
              </a:r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77EB8E1-B0B5-2596-5FFC-5D09A45DF6F1}"/>
                </a:ext>
              </a:extLst>
            </p:cNvPr>
            <p:cNvSpPr txBox="1"/>
            <p:nvPr/>
          </p:nvSpPr>
          <p:spPr>
            <a:xfrm>
              <a:off x="6603999" y="6614584"/>
              <a:ext cx="2127250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dirty="0">
                  <a:ea typeface="+mn-lt"/>
                  <a:cs typeface="+mn-lt"/>
                </a:rPr>
                <a:t>(PMI, 2023; </a:t>
              </a:r>
              <a:r>
                <a:rPr lang="en-US" sz="1000" dirty="0" err="1">
                  <a:ea typeface="+mn-lt"/>
                  <a:cs typeface="+mn-lt"/>
                </a:rPr>
                <a:t>Kuhrmann</a:t>
              </a:r>
              <a:r>
                <a:rPr lang="en-US" sz="1000" dirty="0">
                  <a:ea typeface="+mn-lt"/>
                  <a:cs typeface="+mn-lt"/>
                </a:rPr>
                <a:t> et al., 2022)</a:t>
              </a:r>
              <a:endParaRPr lang="en-US" dirty="0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37C1B873-3A18-1D8D-C6D8-FF249C33ABAF}"/>
                </a:ext>
              </a:extLst>
            </p:cNvPr>
            <p:cNvSpPr/>
            <p:nvPr/>
          </p:nvSpPr>
          <p:spPr>
            <a:xfrm rot="5400000">
              <a:off x="8429624" y="1328209"/>
              <a:ext cx="1132416" cy="529166"/>
            </a:xfrm>
            <a:prstGeom prst="triangl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783A0D1-1BED-A6C0-C966-EAD60AEFB9FA}"/>
              </a:ext>
            </a:extLst>
          </p:cNvPr>
          <p:cNvGrpSpPr/>
          <p:nvPr/>
        </p:nvGrpSpPr>
        <p:grpSpPr>
          <a:xfrm>
            <a:off x="-8763001" y="0"/>
            <a:ext cx="12403667" cy="6857999"/>
            <a:chOff x="338666" y="-10583"/>
            <a:chExt cx="12403667" cy="685799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9AD769F-69A5-AD1A-FE82-931AB9020D71}"/>
                </a:ext>
              </a:extLst>
            </p:cNvPr>
            <p:cNvGrpSpPr/>
            <p:nvPr/>
          </p:nvGrpSpPr>
          <p:grpSpPr>
            <a:xfrm>
              <a:off x="8731250" y="-10583"/>
              <a:ext cx="4011083" cy="6857999"/>
              <a:chOff x="8731250" y="0"/>
              <a:chExt cx="4011083" cy="6857999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41F4A4D-3C3F-5431-DF78-9DE065236C46}"/>
                  </a:ext>
                </a:extLst>
              </p:cNvPr>
              <p:cNvGrpSpPr/>
              <p:nvPr/>
            </p:nvGrpSpPr>
            <p:grpSpPr>
              <a:xfrm>
                <a:off x="8731250" y="0"/>
                <a:ext cx="3460749" cy="6857999"/>
                <a:chOff x="8731250" y="0"/>
                <a:chExt cx="3460749" cy="6857999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DC591D6-4F43-7922-F248-FA7315F503AD}"/>
                    </a:ext>
                  </a:extLst>
                </p:cNvPr>
                <p:cNvSpPr/>
                <p:nvPr/>
              </p:nvSpPr>
              <p:spPr>
                <a:xfrm>
                  <a:off x="8731250" y="0"/>
                  <a:ext cx="3460749" cy="6857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8A8866A-BF89-D11A-E1BD-9C731341E4D6}"/>
                    </a:ext>
                  </a:extLst>
                </p:cNvPr>
                <p:cNvSpPr txBox="1"/>
                <p:nvPr/>
              </p:nvSpPr>
              <p:spPr>
                <a:xfrm>
                  <a:off x="9165166" y="1513416"/>
                  <a:ext cx="2743200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latin typeface="Calibri Light"/>
                      <a:ea typeface="Calibri Light"/>
                      <a:cs typeface="Calibri Light"/>
                    </a:rPr>
                    <a:t>Deployment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BCD2630-CD00-94FD-13EB-0EA47C81BAC8}"/>
                    </a:ext>
                  </a:extLst>
                </p:cNvPr>
                <p:cNvSpPr txBox="1"/>
                <p:nvPr/>
              </p:nvSpPr>
              <p:spPr>
                <a:xfrm>
                  <a:off x="9091084" y="2677582"/>
                  <a:ext cx="2743200" cy="646331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ea typeface="+mn-lt"/>
                      <a:cs typeface="+mn-lt"/>
                    </a:rPr>
                    <a:t>Potentially shippable increment delivered</a:t>
                  </a:r>
                  <a:endParaRPr lang="en-US" b="1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5490FDC-9E92-9103-0B94-BFB5F183168F}"/>
                  </a:ext>
                </a:extLst>
              </p:cNvPr>
              <p:cNvSpPr txBox="1"/>
              <p:nvPr/>
            </p:nvSpPr>
            <p:spPr>
              <a:xfrm>
                <a:off x="8889999" y="3862917"/>
                <a:ext cx="3153833" cy="156966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600">
                    <a:ea typeface="+mn-lt"/>
                    <a:cs typeface="+mn-lt"/>
                  </a:rPr>
                  <a:t>Working functionality demonstrated</a:t>
                </a:r>
                <a:endParaRPr lang="en-US"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>
                    <a:ea typeface="+mn-lt"/>
                    <a:cs typeface="+mn-lt"/>
                  </a:rPr>
                  <a:t>Stakeholder feedback gathered</a:t>
                </a:r>
                <a:endParaRPr lang="en-US"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>
                    <a:ea typeface="+mn-lt"/>
                    <a:cs typeface="+mn-lt"/>
                  </a:rPr>
                  <a:t>Feedback informs next sprint cycle</a:t>
                </a:r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41EC95D-DFCD-9A43-CC53-040678781CAD}"/>
                  </a:ext>
                </a:extLst>
              </p:cNvPr>
              <p:cNvSpPr txBox="1"/>
              <p:nvPr/>
            </p:nvSpPr>
            <p:spPr>
              <a:xfrm>
                <a:off x="10265833" y="6603999"/>
                <a:ext cx="2476500" cy="24622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endParaRPr lang="en-US" sz="1000" dirty="0">
                  <a:latin typeface="Calibri Light"/>
                  <a:ea typeface="Calibri Light"/>
                  <a:cs typeface="Calibri Light"/>
                </a:endParaRPr>
              </a:p>
            </p:txBody>
          </p:sp>
        </p:grpSp>
        <p:sp>
          <p:nvSpPr>
            <p:cNvPr id="59" name="Arrow: Circular 58">
              <a:extLst>
                <a:ext uri="{FF2B5EF4-FFF2-40B4-BE49-F238E27FC236}">
                  <a16:creationId xmlns:a16="http://schemas.microsoft.com/office/drawing/2014/main" id="{6A2908FE-EF1B-2D32-6B21-3A5CBC1AA135}"/>
                </a:ext>
              </a:extLst>
            </p:cNvPr>
            <p:cNvSpPr/>
            <p:nvPr/>
          </p:nvSpPr>
          <p:spPr>
            <a:xfrm rot="16200000">
              <a:off x="3810000" y="-2063751"/>
              <a:ext cx="560916" cy="7503583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0" name="Arrow: Circular 59">
              <a:extLst>
                <a:ext uri="{FF2B5EF4-FFF2-40B4-BE49-F238E27FC236}">
                  <a16:creationId xmlns:a16="http://schemas.microsoft.com/office/drawing/2014/main" id="{EC71E52F-B2CD-6A0F-F534-A78477294FA3}"/>
                </a:ext>
              </a:extLst>
            </p:cNvPr>
            <p:cNvSpPr/>
            <p:nvPr/>
          </p:nvSpPr>
          <p:spPr>
            <a:xfrm rot="5400000">
              <a:off x="8307916" y="-2032001"/>
              <a:ext cx="560916" cy="7503583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004941F-A7C4-661C-A679-B939A8C5BFAC}"/>
                </a:ext>
              </a:extLst>
            </p:cNvPr>
            <p:cNvSpPr txBox="1"/>
            <p:nvPr/>
          </p:nvSpPr>
          <p:spPr>
            <a:xfrm>
              <a:off x="2487083" y="5757333"/>
              <a:ext cx="665691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latin typeface="Calibri Light"/>
                  <a:ea typeface="Calibri Light"/>
                  <a:cs typeface="Calibri Light"/>
                </a:rPr>
                <a:t>In Agile, traditional SDLC phases are executed iteratively within short sprint cycles rather than as a single linear progression (PMI, 2023).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B548F72-4DEB-F09E-85B1-802E07CDB306}"/>
              </a:ext>
            </a:extLst>
          </p:cNvPr>
          <p:cNvGrpSpPr/>
          <p:nvPr/>
        </p:nvGrpSpPr>
        <p:grpSpPr>
          <a:xfrm>
            <a:off x="0" y="-1"/>
            <a:ext cx="3640665" cy="6860805"/>
            <a:chOff x="2698751" y="-10584"/>
            <a:chExt cx="3640665" cy="686080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A046139-4E6D-31FA-315D-0489C397AAE9}"/>
                </a:ext>
              </a:extLst>
            </p:cNvPr>
            <p:cNvGrpSpPr/>
            <p:nvPr/>
          </p:nvGrpSpPr>
          <p:grpSpPr>
            <a:xfrm>
              <a:off x="2698751" y="-10584"/>
              <a:ext cx="2923116" cy="6857999"/>
              <a:chOff x="2709333" y="-1"/>
              <a:chExt cx="2923116" cy="685799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EB5D479-A392-644A-D258-9CC5CFAC22F7}"/>
                  </a:ext>
                </a:extLst>
              </p:cNvPr>
              <p:cNvSpPr/>
              <p:nvPr/>
            </p:nvSpPr>
            <p:spPr>
              <a:xfrm>
                <a:off x="2709333" y="-1"/>
                <a:ext cx="2920999" cy="6857999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F455A8-8258-0F40-A075-3D559E64667B}"/>
                  </a:ext>
                </a:extLst>
              </p:cNvPr>
              <p:cNvSpPr txBox="1"/>
              <p:nvPr/>
            </p:nvSpPr>
            <p:spPr>
              <a:xfrm>
                <a:off x="2889249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Development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5586E8-46D3-3DA8-9EB2-5927407590FA}"/>
                  </a:ext>
                </a:extLst>
              </p:cNvPr>
              <p:cNvSpPr txBox="1"/>
              <p:nvPr/>
            </p:nvSpPr>
            <p:spPr>
              <a:xfrm>
                <a:off x="2804583" y="2677583"/>
                <a:ext cx="2743200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Implementation occurs within the sprint timebox</a:t>
                </a:r>
                <a:endParaRPr lang="en-US" b="1"/>
              </a:p>
            </p:txBody>
          </p:sp>
        </p:grp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35B2FDE-E1FD-4279-A4F2-99B112792A83}"/>
                </a:ext>
              </a:extLst>
            </p:cNvPr>
            <p:cNvSpPr/>
            <p:nvPr/>
          </p:nvSpPr>
          <p:spPr>
            <a:xfrm rot="5400000">
              <a:off x="5328708" y="1444625"/>
              <a:ext cx="1132416" cy="529166"/>
            </a:xfrm>
            <a:prstGeom prst="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272FE8-F7E6-D80C-F89C-C54B585DB88F}"/>
                </a:ext>
              </a:extLst>
            </p:cNvPr>
            <p:cNvSpPr txBox="1"/>
            <p:nvPr/>
          </p:nvSpPr>
          <p:spPr>
            <a:xfrm>
              <a:off x="2804583" y="3841750"/>
              <a:ext cx="2709333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Cross-functional </a:t>
              </a:r>
              <a:r>
                <a:rPr lang="en-US" sz="1600">
                  <a:ea typeface="+mn-lt"/>
                  <a:cs typeface="+mn-lt"/>
                </a:rPr>
                <a:t>collaboration</a:t>
              </a:r>
              <a:endParaRPr lang="en-US" dirty="0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Continuous integration of </a:t>
              </a:r>
              <a:r>
                <a:rPr lang="en-US" sz="1600">
                  <a:ea typeface="+mn-lt"/>
                  <a:cs typeface="+mn-lt"/>
                </a:rPr>
                <a:t>features</a:t>
              </a:r>
              <a:endParaRPr lang="en-US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Daily Scrums monitor progress</a:t>
              </a:r>
              <a:endParaRPr lang="en-US">
                <a:latin typeface="Calibri Light"/>
                <a:ea typeface="Calibri Light"/>
                <a:cs typeface="Calibri Ligh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B0CAE2-20CE-1533-B644-B068C42413C0}"/>
                </a:ext>
              </a:extLst>
            </p:cNvPr>
            <p:cNvSpPr txBox="1"/>
            <p:nvPr/>
          </p:nvSpPr>
          <p:spPr>
            <a:xfrm>
              <a:off x="4159250" y="6604000"/>
              <a:ext cx="218016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endParaRPr lang="en-US" sz="1000" dirty="0">
                <a:latin typeface="Calibri Light"/>
                <a:ea typeface="Calibri Light"/>
                <a:cs typeface="Calibri Light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67E97EE-E113-87D1-F1AD-D5B0A17200D4}"/>
              </a:ext>
            </a:extLst>
          </p:cNvPr>
          <p:cNvSpPr txBox="1"/>
          <p:nvPr/>
        </p:nvSpPr>
        <p:spPr>
          <a:xfrm>
            <a:off x="0" y="1608666"/>
            <a:ext cx="52916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"/>
              <a:t>LOOP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B358763-83E5-528F-F528-86E03834F2EE}"/>
              </a:ext>
            </a:extLst>
          </p:cNvPr>
          <p:cNvGrpSpPr/>
          <p:nvPr/>
        </p:nvGrpSpPr>
        <p:grpSpPr>
          <a:xfrm>
            <a:off x="0" y="0"/>
            <a:ext cx="3227915" cy="6857999"/>
            <a:chOff x="0" y="0"/>
            <a:chExt cx="3227915" cy="685799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A5D99B2-11D8-8FB8-3A9B-3ECCD66B9184}"/>
                </a:ext>
              </a:extLst>
            </p:cNvPr>
            <p:cNvGrpSpPr/>
            <p:nvPr/>
          </p:nvGrpSpPr>
          <p:grpSpPr>
            <a:xfrm>
              <a:off x="0" y="0"/>
              <a:ext cx="3227915" cy="6857999"/>
              <a:chOff x="0" y="0"/>
              <a:chExt cx="3227915" cy="685799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DE68B33-3E5E-B0F4-AE20-23A2E163AFE2}"/>
                  </a:ext>
                </a:extLst>
              </p:cNvPr>
              <p:cNvGrpSpPr/>
              <p:nvPr/>
            </p:nvGrpSpPr>
            <p:grpSpPr>
              <a:xfrm>
                <a:off x="0" y="0"/>
                <a:ext cx="2743200" cy="6857999"/>
                <a:chOff x="-222250" y="317500"/>
                <a:chExt cx="2743200" cy="6857999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8DE3B328-D7FC-A863-B002-4884B2B1A3F6}"/>
                    </a:ext>
                  </a:extLst>
                </p:cNvPr>
                <p:cNvSpPr/>
                <p:nvPr/>
              </p:nvSpPr>
              <p:spPr>
                <a:xfrm>
                  <a:off x="-222250" y="317500"/>
                  <a:ext cx="2709332" cy="6857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5FF1982-DAE6-BEDA-6E4D-7517C6661904}"/>
                    </a:ext>
                  </a:extLst>
                </p:cNvPr>
                <p:cNvSpPr txBox="1"/>
                <p:nvPr/>
              </p:nvSpPr>
              <p:spPr>
                <a:xfrm>
                  <a:off x="-222250" y="1830916"/>
                  <a:ext cx="2743200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latin typeface="Calibri Light"/>
                      <a:ea typeface="Calibri Light"/>
                      <a:cs typeface="Calibri Light"/>
                    </a:rPr>
                    <a:t>Planning</a:t>
                  </a:r>
                  <a:endParaRPr lang="en-US" b="1" dirty="0">
                    <a:latin typeface="Calibri Light"/>
                    <a:ea typeface="Calibri Light"/>
                    <a:cs typeface="Calibri Light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9F7BE11-6C2C-4118-19AB-D4D0E43943D2}"/>
                    </a:ext>
                  </a:extLst>
                </p:cNvPr>
                <p:cNvSpPr txBox="1"/>
                <p:nvPr/>
              </p:nvSpPr>
              <p:spPr>
                <a:xfrm>
                  <a:off x="-52917" y="3005665"/>
                  <a:ext cx="2372784" cy="92333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ea typeface="+mn-lt"/>
                      <a:cs typeface="+mn-lt"/>
                    </a:rPr>
                    <a:t>Sprint Planning defines short-term objectives</a:t>
                  </a:r>
                  <a:endParaRPr lang="en-US" b="1"/>
                </a:p>
              </p:txBody>
            </p:sp>
          </p:grp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CE4887A8-8011-8431-8629-88183F67393A}"/>
                  </a:ext>
                </a:extLst>
              </p:cNvPr>
              <p:cNvSpPr/>
              <p:nvPr/>
            </p:nvSpPr>
            <p:spPr>
              <a:xfrm rot="5400000">
                <a:off x="2397124" y="1444625"/>
                <a:ext cx="1132416" cy="529166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EB9FD3-85EE-5ACB-2996-E60E8032266D}"/>
                </a:ext>
              </a:extLst>
            </p:cNvPr>
            <p:cNvSpPr txBox="1"/>
            <p:nvPr/>
          </p:nvSpPr>
          <p:spPr>
            <a:xfrm>
              <a:off x="158749" y="3799417"/>
              <a:ext cx="2391833" cy="18158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Backlog items selected for the sprint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 </a:t>
              </a:r>
              <a:r>
                <a:rPr lang="en-US" sz="1600">
                  <a:ea typeface="+mn-lt"/>
                  <a:cs typeface="+mn-lt"/>
                </a:rPr>
                <a:t>Sprint goal established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Tasks broken into manageable work units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0182F3B-261D-5777-E059-E0A7F192623C}"/>
                </a:ext>
              </a:extLst>
            </p:cNvPr>
            <p:cNvSpPr txBox="1"/>
            <p:nvPr/>
          </p:nvSpPr>
          <p:spPr>
            <a:xfrm>
              <a:off x="1026583" y="6604000"/>
              <a:ext cx="205316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endParaRPr lang="en-US" sz="1000" dirty="0">
                <a:latin typeface="Calibri Light"/>
                <a:ea typeface="Calibri Light"/>
                <a:cs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715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BAB24-46D3-DCD3-8D4A-1E09375A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146D-F876-324E-36B6-F0BDDF24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950" y="365125"/>
            <a:ext cx="7816850" cy="3230563"/>
          </a:xfrm>
        </p:spPr>
        <p:txBody>
          <a:bodyPr/>
          <a:lstStyle/>
          <a:p>
            <a:r>
              <a:rPr lang="en-US" sz="4000" dirty="0">
                <a:latin typeface="Calibri Light"/>
                <a:ea typeface="Calibri Light"/>
                <a:cs typeface="Calibri Light"/>
              </a:rPr>
              <a:t>Why Consider Agile at </a:t>
            </a:r>
            <a:r>
              <a:rPr lang="en-US" sz="4000" dirty="0" err="1">
                <a:latin typeface="Calibri Light"/>
                <a:ea typeface="Calibri Light"/>
                <a:cs typeface="Calibri Light"/>
              </a:rPr>
              <a:t>ChadaTech</a:t>
            </a:r>
            <a:r>
              <a:rPr lang="en-US" sz="4000" dirty="0">
                <a:latin typeface="Calibri Light"/>
                <a:ea typeface="Calibri Light"/>
                <a:cs typeface="Calibri Light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5B80E-A7F5-DA37-2807-7ABE54C6B27A}"/>
              </a:ext>
            </a:extLst>
          </p:cNvPr>
          <p:cNvSpPr txBox="1"/>
          <p:nvPr/>
        </p:nvSpPr>
        <p:spPr>
          <a:xfrm>
            <a:off x="338666" y="19685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719E5675-50CF-C364-45BD-F8A4BE0140D8}"/>
              </a:ext>
            </a:extLst>
          </p:cNvPr>
          <p:cNvSpPr/>
          <p:nvPr/>
        </p:nvSpPr>
        <p:spPr>
          <a:xfrm rot="5400000">
            <a:off x="2411942" y="1459442"/>
            <a:ext cx="1132416" cy="529166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38AAA-A546-ECC2-78F5-F3F6AA243E46}"/>
              </a:ext>
            </a:extLst>
          </p:cNvPr>
          <p:cNvSpPr txBox="1"/>
          <p:nvPr/>
        </p:nvSpPr>
        <p:spPr>
          <a:xfrm>
            <a:off x="158750" y="3862916"/>
            <a:ext cx="2402416" cy="2264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C3DEC8E-BD4A-2D8C-1275-B47F71FF9CA9}"/>
              </a:ext>
            </a:extLst>
          </p:cNvPr>
          <p:cNvGrpSpPr/>
          <p:nvPr/>
        </p:nvGrpSpPr>
        <p:grpSpPr>
          <a:xfrm>
            <a:off x="2709334" y="-1"/>
            <a:ext cx="3640665" cy="6860805"/>
            <a:chOff x="2698751" y="-10584"/>
            <a:chExt cx="3640665" cy="686080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A6C38E1-AF23-8561-7090-AE219055FBCA}"/>
                </a:ext>
              </a:extLst>
            </p:cNvPr>
            <p:cNvGrpSpPr/>
            <p:nvPr/>
          </p:nvGrpSpPr>
          <p:grpSpPr>
            <a:xfrm>
              <a:off x="2698751" y="-10584"/>
              <a:ext cx="2923116" cy="6857999"/>
              <a:chOff x="2709333" y="-1"/>
              <a:chExt cx="2923116" cy="685799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3A4530E-E632-9D6F-0263-AC71F6B5ED46}"/>
                  </a:ext>
                </a:extLst>
              </p:cNvPr>
              <p:cNvSpPr/>
              <p:nvPr/>
            </p:nvSpPr>
            <p:spPr>
              <a:xfrm>
                <a:off x="2709333" y="-1"/>
                <a:ext cx="2920999" cy="6857999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538B21-E365-C54E-0A06-DC714290B1AC}"/>
                  </a:ext>
                </a:extLst>
              </p:cNvPr>
              <p:cNvSpPr txBox="1"/>
              <p:nvPr/>
            </p:nvSpPr>
            <p:spPr>
              <a:xfrm>
                <a:off x="2889249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Development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075BF4-84FA-18FD-B299-D6DC1D7FFB3D}"/>
                  </a:ext>
                </a:extLst>
              </p:cNvPr>
              <p:cNvSpPr txBox="1"/>
              <p:nvPr/>
            </p:nvSpPr>
            <p:spPr>
              <a:xfrm>
                <a:off x="2804583" y="2677583"/>
                <a:ext cx="2743200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Implementation occurs within the sprint timebox</a:t>
                </a:r>
                <a:endParaRPr lang="en-US" b="1"/>
              </a:p>
            </p:txBody>
          </p:sp>
        </p:grp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9AE75E2E-81A9-86D8-7B11-B562238FBEF2}"/>
                </a:ext>
              </a:extLst>
            </p:cNvPr>
            <p:cNvSpPr/>
            <p:nvPr/>
          </p:nvSpPr>
          <p:spPr>
            <a:xfrm rot="5400000">
              <a:off x="5328708" y="1444625"/>
              <a:ext cx="1132416" cy="529166"/>
            </a:xfrm>
            <a:prstGeom prst="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C075A0E-DA9B-8993-9568-3945166BDE02}"/>
                </a:ext>
              </a:extLst>
            </p:cNvPr>
            <p:cNvSpPr txBox="1"/>
            <p:nvPr/>
          </p:nvSpPr>
          <p:spPr>
            <a:xfrm>
              <a:off x="2804583" y="3841750"/>
              <a:ext cx="2709333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Cross-functional </a:t>
              </a:r>
              <a:r>
                <a:rPr lang="en-US" sz="1600">
                  <a:ea typeface="+mn-lt"/>
                  <a:cs typeface="+mn-lt"/>
                </a:rPr>
                <a:t>collaboration</a:t>
              </a:r>
              <a:endParaRPr lang="en-US" dirty="0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Continuous integration of </a:t>
              </a:r>
              <a:r>
                <a:rPr lang="en-US" sz="1600">
                  <a:ea typeface="+mn-lt"/>
                  <a:cs typeface="+mn-lt"/>
                </a:rPr>
                <a:t>features</a:t>
              </a:r>
              <a:endParaRPr lang="en-US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Daily Scrums monitor progress</a:t>
              </a:r>
              <a:endParaRPr lang="en-US">
                <a:latin typeface="Calibri Light"/>
                <a:ea typeface="Calibri Light"/>
                <a:cs typeface="Calibri Ligh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D524275-C97D-F4B0-CB25-858AB090AB30}"/>
                </a:ext>
              </a:extLst>
            </p:cNvPr>
            <p:cNvSpPr txBox="1"/>
            <p:nvPr/>
          </p:nvSpPr>
          <p:spPr>
            <a:xfrm>
              <a:off x="4159250" y="6604000"/>
              <a:ext cx="218016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endParaRPr lang="en-US" sz="1000" dirty="0">
                <a:latin typeface="Calibri Light"/>
                <a:ea typeface="Calibri Light"/>
                <a:cs typeface="Calibri Light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751FC75-47D4-39D9-6C81-4AE93DBE2F5E}"/>
              </a:ext>
            </a:extLst>
          </p:cNvPr>
          <p:cNvGrpSpPr/>
          <p:nvPr/>
        </p:nvGrpSpPr>
        <p:grpSpPr>
          <a:xfrm>
            <a:off x="0" y="0"/>
            <a:ext cx="3227915" cy="6857999"/>
            <a:chOff x="0" y="0"/>
            <a:chExt cx="3227915" cy="685799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98E3359-4BFF-7300-EDF6-4C20FE133B30}"/>
                </a:ext>
              </a:extLst>
            </p:cNvPr>
            <p:cNvGrpSpPr/>
            <p:nvPr/>
          </p:nvGrpSpPr>
          <p:grpSpPr>
            <a:xfrm>
              <a:off x="0" y="0"/>
              <a:ext cx="3227915" cy="6857999"/>
              <a:chOff x="0" y="0"/>
              <a:chExt cx="3227915" cy="685799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46200BD-84FC-8BB4-874D-775A0DE30EA0}"/>
                  </a:ext>
                </a:extLst>
              </p:cNvPr>
              <p:cNvGrpSpPr/>
              <p:nvPr/>
            </p:nvGrpSpPr>
            <p:grpSpPr>
              <a:xfrm>
                <a:off x="0" y="0"/>
                <a:ext cx="2743200" cy="6857999"/>
                <a:chOff x="-222250" y="317500"/>
                <a:chExt cx="2743200" cy="6857999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2D3D800-0F37-8376-DB08-1A14432CD408}"/>
                    </a:ext>
                  </a:extLst>
                </p:cNvPr>
                <p:cNvSpPr/>
                <p:nvPr/>
              </p:nvSpPr>
              <p:spPr>
                <a:xfrm>
                  <a:off x="-222250" y="317500"/>
                  <a:ext cx="2709332" cy="6857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5F388F0-BA6A-8ADF-1F00-79FBC327F480}"/>
                    </a:ext>
                  </a:extLst>
                </p:cNvPr>
                <p:cNvSpPr txBox="1"/>
                <p:nvPr/>
              </p:nvSpPr>
              <p:spPr>
                <a:xfrm>
                  <a:off x="-222250" y="1830916"/>
                  <a:ext cx="2743200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latin typeface="Calibri Light"/>
                      <a:ea typeface="Calibri Light"/>
                      <a:cs typeface="Calibri Light"/>
                    </a:rPr>
                    <a:t>Planning</a:t>
                  </a:r>
                  <a:endParaRPr lang="en-US" b="1" dirty="0">
                    <a:latin typeface="Calibri Light"/>
                    <a:ea typeface="Calibri Light"/>
                    <a:cs typeface="Calibri Light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FDB2CDA-F907-522D-EA4F-02D524E4BB4C}"/>
                    </a:ext>
                  </a:extLst>
                </p:cNvPr>
                <p:cNvSpPr txBox="1"/>
                <p:nvPr/>
              </p:nvSpPr>
              <p:spPr>
                <a:xfrm>
                  <a:off x="-52917" y="3005665"/>
                  <a:ext cx="2372784" cy="92333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ea typeface="+mn-lt"/>
                      <a:cs typeface="+mn-lt"/>
                    </a:rPr>
                    <a:t>Sprint Planning defines short-term objectives</a:t>
                  </a:r>
                  <a:endParaRPr lang="en-US" b="1"/>
                </a:p>
              </p:txBody>
            </p:sp>
          </p:grp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D148DCE8-C881-809D-1F62-9AA4BC069919}"/>
                  </a:ext>
                </a:extLst>
              </p:cNvPr>
              <p:cNvSpPr/>
              <p:nvPr/>
            </p:nvSpPr>
            <p:spPr>
              <a:xfrm rot="5400000">
                <a:off x="2397124" y="1444625"/>
                <a:ext cx="1132416" cy="529166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B649F1-AE46-AEB1-B7D1-97831C691561}"/>
                </a:ext>
              </a:extLst>
            </p:cNvPr>
            <p:cNvSpPr txBox="1"/>
            <p:nvPr/>
          </p:nvSpPr>
          <p:spPr>
            <a:xfrm>
              <a:off x="158749" y="3799417"/>
              <a:ext cx="2391833" cy="18158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Backlog items selected for the sprint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 </a:t>
              </a:r>
              <a:r>
                <a:rPr lang="en-US" sz="1600">
                  <a:ea typeface="+mn-lt"/>
                  <a:cs typeface="+mn-lt"/>
                </a:rPr>
                <a:t>Sprint goal established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Tasks broken into manageable work units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1FDFC1-8753-27D5-748A-A0618B03B6CD}"/>
                </a:ext>
              </a:extLst>
            </p:cNvPr>
            <p:cNvSpPr txBox="1"/>
            <p:nvPr/>
          </p:nvSpPr>
          <p:spPr>
            <a:xfrm>
              <a:off x="1026583" y="6604000"/>
              <a:ext cx="205316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endParaRPr lang="en-US" sz="1000" dirty="0">
                <a:latin typeface="Calibri Light"/>
                <a:ea typeface="Calibri Light"/>
                <a:cs typeface="Calibri Light"/>
              </a:endParaRPr>
            </a:p>
          </p:txBody>
        </p:sp>
      </p:grp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D79C0810-8987-F8DD-9D1E-76B5B4C27BD9}"/>
              </a:ext>
            </a:extLst>
          </p:cNvPr>
          <p:cNvSpPr/>
          <p:nvPr/>
        </p:nvSpPr>
        <p:spPr>
          <a:xfrm rot="5400000">
            <a:off x="-297392" y="1459441"/>
            <a:ext cx="1132416" cy="529166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D5F7F6-CFAC-8EE9-6C60-AE654CACAEC6}"/>
              </a:ext>
            </a:extLst>
          </p:cNvPr>
          <p:cNvGrpSpPr/>
          <p:nvPr/>
        </p:nvGrpSpPr>
        <p:grpSpPr>
          <a:xfrm>
            <a:off x="5640916" y="0"/>
            <a:ext cx="3630081" cy="6857999"/>
            <a:chOff x="5630334" y="0"/>
            <a:chExt cx="3630081" cy="68579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4A2E40B-8ED7-0B76-2A11-E4484B15F8C2}"/>
                </a:ext>
              </a:extLst>
            </p:cNvPr>
            <p:cNvGrpSpPr/>
            <p:nvPr/>
          </p:nvGrpSpPr>
          <p:grpSpPr>
            <a:xfrm>
              <a:off x="5630334" y="0"/>
              <a:ext cx="3100915" cy="6857999"/>
              <a:chOff x="5630334" y="0"/>
              <a:chExt cx="3100915" cy="685799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77AC2DD-40E4-4833-FE7B-4F824BFDD323}"/>
                  </a:ext>
                </a:extLst>
              </p:cNvPr>
              <p:cNvSpPr/>
              <p:nvPr/>
            </p:nvSpPr>
            <p:spPr>
              <a:xfrm>
                <a:off x="5630334" y="0"/>
                <a:ext cx="3100915" cy="6857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1CD4BBA-B85B-9F41-6F5D-CDD884C1F979}"/>
                  </a:ext>
                </a:extLst>
              </p:cNvPr>
              <p:cNvSpPr txBox="1"/>
              <p:nvPr/>
            </p:nvSpPr>
            <p:spPr>
              <a:xfrm>
                <a:off x="5810250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Testing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9B964F-204C-6885-89C6-0DE03C9E2AE6}"/>
                  </a:ext>
                </a:extLst>
              </p:cNvPr>
              <p:cNvSpPr txBox="1"/>
              <p:nvPr/>
            </p:nvSpPr>
            <p:spPr>
              <a:xfrm>
                <a:off x="5810249" y="2677583"/>
                <a:ext cx="2743200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Validation occurs throughout the sprint</a:t>
                </a:r>
                <a:endParaRPr lang="en-US" b="1"/>
              </a:p>
              <a:p>
                <a:pPr algn="l"/>
                <a:endParaRPr lang="en-US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2E1BB5-2695-CB64-1717-665D8B5C0EC5}"/>
                </a:ext>
              </a:extLst>
            </p:cNvPr>
            <p:cNvSpPr txBox="1"/>
            <p:nvPr/>
          </p:nvSpPr>
          <p:spPr>
            <a:xfrm>
              <a:off x="5905499" y="3799416"/>
              <a:ext cx="2741083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Continuous testing within </a:t>
              </a:r>
              <a:r>
                <a:rPr lang="en-US" sz="1600">
                  <a:ea typeface="+mn-lt"/>
                  <a:cs typeface="+mn-lt"/>
                </a:rPr>
                <a:t>development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Defects addressed immediately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Increment reviewed </a:t>
              </a:r>
              <a:r>
                <a:rPr lang="en-US" sz="1600" dirty="0">
                  <a:ea typeface="+mn-lt"/>
                  <a:cs typeface="+mn-lt"/>
                </a:rPr>
                <a:t>before sprint close</a:t>
              </a:r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0D25457-5310-8EB3-4D47-7A224902E807}"/>
                </a:ext>
              </a:extLst>
            </p:cNvPr>
            <p:cNvSpPr txBox="1"/>
            <p:nvPr/>
          </p:nvSpPr>
          <p:spPr>
            <a:xfrm>
              <a:off x="6603999" y="6604001"/>
              <a:ext cx="2127250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ea typeface="+mn-lt"/>
                  <a:cs typeface="+mn-lt"/>
                </a:rPr>
                <a:t>(PMI, 2023; Baxter et al., 2023)</a:t>
              </a:r>
              <a:endParaRPr lang="en-US">
                <a:ea typeface="+mn-lt"/>
                <a:cs typeface="+mn-lt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1016433C-ACA8-356C-E911-9AD3CD97D5B4}"/>
                </a:ext>
              </a:extLst>
            </p:cNvPr>
            <p:cNvSpPr/>
            <p:nvPr/>
          </p:nvSpPr>
          <p:spPr>
            <a:xfrm rot="5400000">
              <a:off x="8429624" y="1328209"/>
              <a:ext cx="1132416" cy="529166"/>
            </a:xfrm>
            <a:prstGeom prst="triangl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86F38DA-00A1-A14F-6774-3B349F679CD7}"/>
              </a:ext>
            </a:extLst>
          </p:cNvPr>
          <p:cNvGrpSpPr/>
          <p:nvPr/>
        </p:nvGrpSpPr>
        <p:grpSpPr>
          <a:xfrm>
            <a:off x="338666" y="-10583"/>
            <a:ext cx="12403667" cy="6857999"/>
            <a:chOff x="338666" y="-10583"/>
            <a:chExt cx="12403667" cy="685799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DB8BD48-D0DB-E168-FA34-5AEC5EA2F60F}"/>
                </a:ext>
              </a:extLst>
            </p:cNvPr>
            <p:cNvGrpSpPr/>
            <p:nvPr/>
          </p:nvGrpSpPr>
          <p:grpSpPr>
            <a:xfrm>
              <a:off x="8731250" y="-10583"/>
              <a:ext cx="4011083" cy="6857999"/>
              <a:chOff x="8731250" y="0"/>
              <a:chExt cx="4011083" cy="6857999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2E300D9-45C7-A9B2-D2B2-CD9EA43F393A}"/>
                  </a:ext>
                </a:extLst>
              </p:cNvPr>
              <p:cNvGrpSpPr/>
              <p:nvPr/>
            </p:nvGrpSpPr>
            <p:grpSpPr>
              <a:xfrm>
                <a:off x="8731250" y="0"/>
                <a:ext cx="3460749" cy="6857999"/>
                <a:chOff x="8731250" y="0"/>
                <a:chExt cx="3460749" cy="6857999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1A34559-6C45-33C4-1210-232265152454}"/>
                    </a:ext>
                  </a:extLst>
                </p:cNvPr>
                <p:cNvSpPr/>
                <p:nvPr/>
              </p:nvSpPr>
              <p:spPr>
                <a:xfrm>
                  <a:off x="8731250" y="0"/>
                  <a:ext cx="3460749" cy="6857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5639C62-2945-24F6-51C8-B222F7CA2E03}"/>
                    </a:ext>
                  </a:extLst>
                </p:cNvPr>
                <p:cNvSpPr txBox="1"/>
                <p:nvPr/>
              </p:nvSpPr>
              <p:spPr>
                <a:xfrm>
                  <a:off x="9165166" y="1513416"/>
                  <a:ext cx="2743200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latin typeface="Calibri Light"/>
                      <a:ea typeface="Calibri Light"/>
                      <a:cs typeface="Calibri Light"/>
                    </a:rPr>
                    <a:t>Deployment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40DDC3F-242A-7ED8-1549-95D20A397E4F}"/>
                    </a:ext>
                  </a:extLst>
                </p:cNvPr>
                <p:cNvSpPr txBox="1"/>
                <p:nvPr/>
              </p:nvSpPr>
              <p:spPr>
                <a:xfrm>
                  <a:off x="9091084" y="2677582"/>
                  <a:ext cx="2743200" cy="646331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ea typeface="+mn-lt"/>
                      <a:cs typeface="+mn-lt"/>
                    </a:rPr>
                    <a:t>Potentially shippable increment delivered</a:t>
                  </a:r>
                  <a:endParaRPr lang="en-US" b="1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2D4B9DC-71DA-941E-A099-88B49EDEFCC3}"/>
                  </a:ext>
                </a:extLst>
              </p:cNvPr>
              <p:cNvSpPr txBox="1"/>
              <p:nvPr/>
            </p:nvSpPr>
            <p:spPr>
              <a:xfrm>
                <a:off x="8889999" y="3862917"/>
                <a:ext cx="3153833" cy="156966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600">
                    <a:ea typeface="+mn-lt"/>
                    <a:cs typeface="+mn-lt"/>
                  </a:rPr>
                  <a:t>Working functionality demonstrated</a:t>
                </a:r>
                <a:endParaRPr lang="en-US"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>
                    <a:ea typeface="+mn-lt"/>
                    <a:cs typeface="+mn-lt"/>
                  </a:rPr>
                  <a:t>Stakeholder feedback gathered</a:t>
                </a:r>
                <a:endParaRPr lang="en-US"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>
                    <a:ea typeface="+mn-lt"/>
                    <a:cs typeface="+mn-lt"/>
                  </a:rPr>
                  <a:t>Feedback informs next sprint cycle</a:t>
                </a:r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216590F-7935-C948-C1FF-CB34AA0C32C4}"/>
                  </a:ext>
                </a:extLst>
              </p:cNvPr>
              <p:cNvSpPr txBox="1"/>
              <p:nvPr/>
            </p:nvSpPr>
            <p:spPr>
              <a:xfrm>
                <a:off x="10265833" y="6603999"/>
                <a:ext cx="2476500" cy="24622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endParaRPr lang="en-US" sz="1000" dirty="0">
                  <a:latin typeface="Calibri Light"/>
                  <a:ea typeface="Calibri Light"/>
                  <a:cs typeface="Calibri Light"/>
                </a:endParaRPr>
              </a:p>
            </p:txBody>
          </p:sp>
        </p:grpSp>
        <p:sp>
          <p:nvSpPr>
            <p:cNvPr id="59" name="Arrow: Circular 58">
              <a:extLst>
                <a:ext uri="{FF2B5EF4-FFF2-40B4-BE49-F238E27FC236}">
                  <a16:creationId xmlns:a16="http://schemas.microsoft.com/office/drawing/2014/main" id="{FAA54EAD-06D2-6C1A-36A6-37363C734B5D}"/>
                </a:ext>
              </a:extLst>
            </p:cNvPr>
            <p:cNvSpPr/>
            <p:nvPr/>
          </p:nvSpPr>
          <p:spPr>
            <a:xfrm rot="16200000">
              <a:off x="3810000" y="-2063751"/>
              <a:ext cx="560916" cy="7503583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0" name="Arrow: Circular 59">
              <a:extLst>
                <a:ext uri="{FF2B5EF4-FFF2-40B4-BE49-F238E27FC236}">
                  <a16:creationId xmlns:a16="http://schemas.microsoft.com/office/drawing/2014/main" id="{97355736-3F81-4C38-D120-623CF1FABDE9}"/>
                </a:ext>
              </a:extLst>
            </p:cNvPr>
            <p:cNvSpPr/>
            <p:nvPr/>
          </p:nvSpPr>
          <p:spPr>
            <a:xfrm rot="5400000">
              <a:off x="8307916" y="-2032001"/>
              <a:ext cx="560916" cy="7503583"/>
            </a:xfrm>
            <a:prstGeom prst="circular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05D44FC-77DE-11B9-3904-204DA7FA2356}"/>
                </a:ext>
              </a:extLst>
            </p:cNvPr>
            <p:cNvSpPr txBox="1"/>
            <p:nvPr/>
          </p:nvSpPr>
          <p:spPr>
            <a:xfrm>
              <a:off x="2487083" y="5757333"/>
              <a:ext cx="6656916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+mn-lt"/>
                  <a:cs typeface="+mn-lt"/>
                </a:rPr>
                <a:t>In Agile, traditional SDLC phases are executed iteratively within short sprint cycles rather than through a single linear progression (PMI, 2023).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673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23E9-4758-8180-7CE3-E37834381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4A30C-6101-A18B-42AF-F53EE196F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950" y="365125"/>
            <a:ext cx="7816850" cy="3230563"/>
          </a:xfrm>
        </p:spPr>
        <p:txBody>
          <a:bodyPr/>
          <a:lstStyle/>
          <a:p>
            <a:pPr algn="ctr"/>
            <a:r>
              <a:rPr lang="en-US" sz="4000">
                <a:ea typeface="+mj-lt"/>
                <a:cs typeface="+mj-lt"/>
              </a:rPr>
              <a:t>Traditional SDLC: The Waterfall Approach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5BEA1-E163-F1C9-6D99-8AE3B180692D}"/>
              </a:ext>
            </a:extLst>
          </p:cNvPr>
          <p:cNvSpPr txBox="1"/>
          <p:nvPr/>
        </p:nvSpPr>
        <p:spPr>
          <a:xfrm>
            <a:off x="338666" y="19685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7B82B484-7D73-9E42-A20B-1C3106C55FB8}"/>
              </a:ext>
            </a:extLst>
          </p:cNvPr>
          <p:cNvSpPr/>
          <p:nvPr/>
        </p:nvSpPr>
        <p:spPr>
          <a:xfrm rot="5400000">
            <a:off x="2411942" y="1459442"/>
            <a:ext cx="1132416" cy="529166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8B5BB-418A-B7D5-5EBD-24CD50EC5C76}"/>
              </a:ext>
            </a:extLst>
          </p:cNvPr>
          <p:cNvSpPr txBox="1"/>
          <p:nvPr/>
        </p:nvSpPr>
        <p:spPr>
          <a:xfrm>
            <a:off x="158750" y="3862916"/>
            <a:ext cx="2402416" cy="2264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027AC50-C4CF-B3A3-AB39-A5D7E6B2BBAD}"/>
              </a:ext>
            </a:extLst>
          </p:cNvPr>
          <p:cNvGrpSpPr/>
          <p:nvPr/>
        </p:nvGrpSpPr>
        <p:grpSpPr>
          <a:xfrm>
            <a:off x="-201084" y="84667"/>
            <a:ext cx="3630081" cy="6860805"/>
            <a:chOff x="5630334" y="0"/>
            <a:chExt cx="3630081" cy="686080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0015F48-ADB0-A0DD-7F94-BA5C24603790}"/>
                </a:ext>
              </a:extLst>
            </p:cNvPr>
            <p:cNvGrpSpPr/>
            <p:nvPr/>
          </p:nvGrpSpPr>
          <p:grpSpPr>
            <a:xfrm>
              <a:off x="5630334" y="0"/>
              <a:ext cx="3100915" cy="6857999"/>
              <a:chOff x="5630334" y="0"/>
              <a:chExt cx="3100915" cy="685799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B07CA71-93D4-F4C4-1B44-B34663E67E66}"/>
                  </a:ext>
                </a:extLst>
              </p:cNvPr>
              <p:cNvSpPr/>
              <p:nvPr/>
            </p:nvSpPr>
            <p:spPr>
              <a:xfrm>
                <a:off x="5630334" y="0"/>
                <a:ext cx="3100915" cy="6857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20D3F3-0FAE-25B2-54A5-A8113B306D52}"/>
                  </a:ext>
                </a:extLst>
              </p:cNvPr>
              <p:cNvSpPr txBox="1"/>
              <p:nvPr/>
            </p:nvSpPr>
            <p:spPr>
              <a:xfrm>
                <a:off x="5810250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Testing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F3E5B6-F8FA-F933-C5B4-9082ECF5611F}"/>
                  </a:ext>
                </a:extLst>
              </p:cNvPr>
              <p:cNvSpPr txBox="1"/>
              <p:nvPr/>
            </p:nvSpPr>
            <p:spPr>
              <a:xfrm>
                <a:off x="5810249" y="2677583"/>
                <a:ext cx="2743200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>
                    <a:ea typeface="+mn-lt"/>
                    <a:cs typeface="+mn-lt"/>
                  </a:rPr>
                  <a:t>Validation occurs after development</a:t>
                </a:r>
                <a:endParaRPr lang="en-US"/>
              </a:p>
              <a:p>
                <a:pPr algn="l"/>
                <a:endParaRPr lang="en-US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0CC5B0-D5DF-7C97-B3DE-C33950D1E360}"/>
                </a:ext>
              </a:extLst>
            </p:cNvPr>
            <p:cNvSpPr txBox="1"/>
            <p:nvPr/>
          </p:nvSpPr>
          <p:spPr>
            <a:xfrm>
              <a:off x="5905499" y="3799416"/>
              <a:ext cx="2741083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Defects discovered late in lifecycle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Rework impacts schedule and cost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Limited early feedback opportunities</a:t>
              </a:r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0C2A60C-34E6-80DA-CD83-0EAB74946A86}"/>
                </a:ext>
              </a:extLst>
            </p:cNvPr>
            <p:cNvSpPr txBox="1"/>
            <p:nvPr/>
          </p:nvSpPr>
          <p:spPr>
            <a:xfrm>
              <a:off x="6603999" y="6614584"/>
              <a:ext cx="2127250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dirty="0">
                  <a:ea typeface="+mn-lt"/>
                  <a:cs typeface="+mn-lt"/>
                </a:rPr>
                <a:t>(PMI, 2023; </a:t>
              </a:r>
              <a:r>
                <a:rPr lang="en-US" sz="1000" dirty="0" err="1">
                  <a:ea typeface="+mn-lt"/>
                  <a:cs typeface="+mn-lt"/>
                </a:rPr>
                <a:t>Kuhrmann</a:t>
              </a:r>
              <a:r>
                <a:rPr lang="en-US" sz="1000" dirty="0">
                  <a:ea typeface="+mn-lt"/>
                  <a:cs typeface="+mn-lt"/>
                </a:rPr>
                <a:t> et al., 2022)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AFC3D361-2EE7-DFEA-BCF4-5A80DFA4A6E6}"/>
                </a:ext>
              </a:extLst>
            </p:cNvPr>
            <p:cNvSpPr/>
            <p:nvPr/>
          </p:nvSpPr>
          <p:spPr>
            <a:xfrm rot="5400000">
              <a:off x="8429624" y="1328209"/>
              <a:ext cx="1132416" cy="529166"/>
            </a:xfrm>
            <a:prstGeom prst="triangl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08FC00B-9C85-6EE2-8B9B-06AD2D7CBE7D}"/>
              </a:ext>
            </a:extLst>
          </p:cNvPr>
          <p:cNvGrpSpPr/>
          <p:nvPr/>
        </p:nvGrpSpPr>
        <p:grpSpPr>
          <a:xfrm>
            <a:off x="-116416" y="-10584"/>
            <a:ext cx="3460748" cy="6857999"/>
            <a:chOff x="2698751" y="-10584"/>
            <a:chExt cx="3460748" cy="685799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8BB2606-C465-4B5A-A433-362E3AA8B6FE}"/>
                </a:ext>
              </a:extLst>
            </p:cNvPr>
            <p:cNvGrpSpPr/>
            <p:nvPr/>
          </p:nvGrpSpPr>
          <p:grpSpPr>
            <a:xfrm>
              <a:off x="2698751" y="-10584"/>
              <a:ext cx="2923116" cy="6857999"/>
              <a:chOff x="2709333" y="-1"/>
              <a:chExt cx="2923116" cy="685799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D3C79D4-8E89-F325-449E-437F2C56A2E3}"/>
                  </a:ext>
                </a:extLst>
              </p:cNvPr>
              <p:cNvSpPr/>
              <p:nvPr/>
            </p:nvSpPr>
            <p:spPr>
              <a:xfrm>
                <a:off x="2709333" y="-1"/>
                <a:ext cx="2920999" cy="6857999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5DA168-EF59-356A-B57B-D83E43C23B46}"/>
                  </a:ext>
                </a:extLst>
              </p:cNvPr>
              <p:cNvSpPr txBox="1"/>
              <p:nvPr/>
            </p:nvSpPr>
            <p:spPr>
              <a:xfrm>
                <a:off x="2889249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Development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497C8A-A37B-A2A7-DB73-186F7A376E40}"/>
                  </a:ext>
                </a:extLst>
              </p:cNvPr>
              <p:cNvSpPr txBox="1"/>
              <p:nvPr/>
            </p:nvSpPr>
            <p:spPr>
              <a:xfrm>
                <a:off x="2804583" y="2677583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>
                    <a:ea typeface="+mn-lt"/>
                    <a:cs typeface="+mn-lt"/>
                  </a:rPr>
                  <a:t>Implementation follows a fixed approved design</a:t>
                </a:r>
                <a:endParaRPr lang="en-US"/>
              </a:p>
            </p:txBody>
          </p:sp>
        </p:grp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99EF8944-B0A3-478A-B7A7-0ADEAB017004}"/>
                </a:ext>
              </a:extLst>
            </p:cNvPr>
            <p:cNvSpPr/>
            <p:nvPr/>
          </p:nvSpPr>
          <p:spPr>
            <a:xfrm rot="5400000">
              <a:off x="5328708" y="1444625"/>
              <a:ext cx="1132416" cy="529166"/>
            </a:xfrm>
            <a:prstGeom prst="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982EF3C-5EA3-F193-5EC6-2434066AEE90}"/>
                </a:ext>
              </a:extLst>
            </p:cNvPr>
            <p:cNvSpPr txBox="1"/>
            <p:nvPr/>
          </p:nvSpPr>
          <p:spPr>
            <a:xfrm>
              <a:off x="2804583" y="3841750"/>
              <a:ext cx="2709333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Work proceeds sequentially</a:t>
              </a:r>
              <a:endParaRPr lang="en-US" dirty="0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Changes require formal change </a:t>
              </a:r>
              <a:r>
                <a:rPr lang="en-US" sz="1600">
                  <a:ea typeface="+mn-lt"/>
                  <a:cs typeface="+mn-lt"/>
                </a:rPr>
                <a:t>control</a:t>
              </a:r>
              <a:endParaRPr lang="en-US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Limited stakeholder interaction during </a:t>
              </a:r>
              <a:r>
                <a:rPr lang="en-US" sz="1600">
                  <a:ea typeface="+mn-lt"/>
                  <a:cs typeface="+mn-lt"/>
                </a:rPr>
                <a:t>build</a:t>
              </a:r>
              <a:endParaRPr lang="en-US">
                <a:latin typeface="Calibri Light"/>
                <a:ea typeface="Calibri Light"/>
                <a:cs typeface="Calibri Light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3D771D9-E41D-B0AD-8C28-BBE516B123EB}"/>
              </a:ext>
            </a:extLst>
          </p:cNvPr>
          <p:cNvGrpSpPr/>
          <p:nvPr/>
        </p:nvGrpSpPr>
        <p:grpSpPr>
          <a:xfrm>
            <a:off x="-5693834" y="0"/>
            <a:ext cx="8403166" cy="6857999"/>
            <a:chOff x="3788833" y="-10583"/>
            <a:chExt cx="8403166" cy="685799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970925A-7290-0B81-FFE0-1596F2E6224E}"/>
                </a:ext>
              </a:extLst>
            </p:cNvPr>
            <p:cNvGrpSpPr/>
            <p:nvPr/>
          </p:nvGrpSpPr>
          <p:grpSpPr>
            <a:xfrm>
              <a:off x="8731250" y="-10583"/>
              <a:ext cx="3460749" cy="6857999"/>
              <a:chOff x="8731250" y="0"/>
              <a:chExt cx="3460749" cy="6857999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011B934-EC50-1BF9-76CA-5A4968FFA886}"/>
                  </a:ext>
                </a:extLst>
              </p:cNvPr>
              <p:cNvGrpSpPr/>
              <p:nvPr/>
            </p:nvGrpSpPr>
            <p:grpSpPr>
              <a:xfrm>
                <a:off x="8731250" y="0"/>
                <a:ext cx="3460749" cy="6857999"/>
                <a:chOff x="8731250" y="0"/>
                <a:chExt cx="3460749" cy="6857999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A5CAF3D-DE23-2BD9-DC3C-528556715FD5}"/>
                    </a:ext>
                  </a:extLst>
                </p:cNvPr>
                <p:cNvSpPr/>
                <p:nvPr/>
              </p:nvSpPr>
              <p:spPr>
                <a:xfrm>
                  <a:off x="8731250" y="0"/>
                  <a:ext cx="3460749" cy="6857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B313888-F53A-F275-447F-5C8865E5F116}"/>
                    </a:ext>
                  </a:extLst>
                </p:cNvPr>
                <p:cNvSpPr txBox="1"/>
                <p:nvPr/>
              </p:nvSpPr>
              <p:spPr>
                <a:xfrm>
                  <a:off x="9165166" y="1513416"/>
                  <a:ext cx="2743200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latin typeface="Calibri Light"/>
                      <a:ea typeface="Calibri Light"/>
                      <a:cs typeface="Calibri Light"/>
                    </a:rPr>
                    <a:t>Deployment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629D36D-9943-D97F-ECF6-9E59AE59AE69}"/>
                    </a:ext>
                  </a:extLst>
                </p:cNvPr>
                <p:cNvSpPr txBox="1"/>
                <p:nvPr/>
              </p:nvSpPr>
              <p:spPr>
                <a:xfrm>
                  <a:off x="9091084" y="2677582"/>
                  <a:ext cx="2743200" cy="646331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>
                      <a:ea typeface="+mn-lt"/>
                      <a:cs typeface="+mn-lt"/>
                    </a:rPr>
                    <a:t>Final product released at project completion</a:t>
                  </a:r>
                  <a:endParaRPr lang="en-US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7703E8B-D1A7-EFA2-48AD-1BA8121FE91E}"/>
                  </a:ext>
                </a:extLst>
              </p:cNvPr>
              <p:cNvSpPr txBox="1"/>
              <p:nvPr/>
            </p:nvSpPr>
            <p:spPr>
              <a:xfrm>
                <a:off x="8889999" y="3862917"/>
                <a:ext cx="3153833" cy="156966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600" dirty="0">
                    <a:ea typeface="+mn-lt"/>
                    <a:cs typeface="+mn-lt"/>
                  </a:rPr>
                  <a:t>Full system delivered at </a:t>
                </a:r>
                <a:r>
                  <a:rPr lang="en-US" sz="1600">
                    <a:ea typeface="+mn-lt"/>
                    <a:cs typeface="+mn-lt"/>
                  </a:rPr>
                  <a:t>once</a:t>
                </a:r>
                <a:endParaRPr lang="en-US"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>
                    <a:ea typeface="+mn-lt"/>
                    <a:cs typeface="+mn-lt"/>
                  </a:rPr>
                  <a:t>Stakeholder</a:t>
                </a:r>
                <a:r>
                  <a:rPr lang="en-US" sz="1600" dirty="0">
                    <a:ea typeface="+mn-lt"/>
                    <a:cs typeface="+mn-lt"/>
                  </a:rPr>
                  <a:t> validation occurs </a:t>
                </a:r>
                <a:r>
                  <a:rPr lang="en-US" sz="1600">
                    <a:ea typeface="+mn-lt"/>
                    <a:cs typeface="+mn-lt"/>
                  </a:rPr>
                  <a:t>late</a:t>
                </a:r>
                <a:endParaRPr lang="en-US"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>
                    <a:ea typeface="+mn-lt"/>
                    <a:cs typeface="+mn-lt"/>
                  </a:rPr>
                  <a:t>Risk of misalignment </a:t>
                </a:r>
                <a:r>
                  <a:rPr lang="en-US" sz="1600" dirty="0">
                    <a:ea typeface="+mn-lt"/>
                    <a:cs typeface="+mn-lt"/>
                  </a:rPr>
                  <a:t>discovered near end</a:t>
                </a:r>
                <a:endParaRPr lang="en-US"/>
              </a:p>
              <a:p>
                <a:pPr marL="285750" indent="-285750">
                  <a:buFont typeface="Arial"/>
                  <a:buChar char="•"/>
                </a:pPr>
                <a:endParaRPr lang="en-US" sz="1600" dirty="0">
                  <a:latin typeface="Calibri Light"/>
                  <a:ea typeface="Calibri Light"/>
                  <a:cs typeface="Calibri Light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9620356-3D2D-1E65-B655-59232FD199BF}"/>
                </a:ext>
              </a:extLst>
            </p:cNvPr>
            <p:cNvSpPr txBox="1"/>
            <p:nvPr/>
          </p:nvSpPr>
          <p:spPr>
            <a:xfrm>
              <a:off x="3788833" y="5704416"/>
              <a:ext cx="5503333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+mn-lt"/>
                  <a:cs typeface="+mn-lt"/>
                </a:rPr>
                <a:t>Waterfall executes SDLC phases sequentially, often delaying validation and stakeholder feedback until later stages (PMI, 2023).</a:t>
              </a:r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883A6A9-BA0B-4617-BA17-26298EAD4DD2}"/>
              </a:ext>
            </a:extLst>
          </p:cNvPr>
          <p:cNvGrpSpPr/>
          <p:nvPr/>
        </p:nvGrpSpPr>
        <p:grpSpPr>
          <a:xfrm>
            <a:off x="0" y="0"/>
            <a:ext cx="3227915" cy="6857999"/>
            <a:chOff x="0" y="0"/>
            <a:chExt cx="3227915" cy="685799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ABE4D1E-62AC-D3B4-CA90-9E078454EF10}"/>
                </a:ext>
              </a:extLst>
            </p:cNvPr>
            <p:cNvGrpSpPr/>
            <p:nvPr/>
          </p:nvGrpSpPr>
          <p:grpSpPr>
            <a:xfrm>
              <a:off x="0" y="0"/>
              <a:ext cx="3227915" cy="6857999"/>
              <a:chOff x="0" y="0"/>
              <a:chExt cx="3227915" cy="685799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8FB5D49-940A-DE9A-3D18-2CA319CC54B8}"/>
                  </a:ext>
                </a:extLst>
              </p:cNvPr>
              <p:cNvGrpSpPr/>
              <p:nvPr/>
            </p:nvGrpSpPr>
            <p:grpSpPr>
              <a:xfrm>
                <a:off x="0" y="0"/>
                <a:ext cx="2743200" cy="6857999"/>
                <a:chOff x="-222250" y="317500"/>
                <a:chExt cx="2743200" cy="6857999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6F0C4E94-4ED6-FBAC-31D0-A92311598F50}"/>
                    </a:ext>
                  </a:extLst>
                </p:cNvPr>
                <p:cNvSpPr/>
                <p:nvPr/>
              </p:nvSpPr>
              <p:spPr>
                <a:xfrm>
                  <a:off x="-222250" y="317500"/>
                  <a:ext cx="2709332" cy="6857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2650537-ED78-4002-516B-4B8F7613591F}"/>
                    </a:ext>
                  </a:extLst>
                </p:cNvPr>
                <p:cNvSpPr txBox="1"/>
                <p:nvPr/>
              </p:nvSpPr>
              <p:spPr>
                <a:xfrm>
                  <a:off x="-222250" y="1830916"/>
                  <a:ext cx="2743200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latin typeface="Calibri Light"/>
                      <a:ea typeface="Calibri Light"/>
                      <a:cs typeface="Calibri Light"/>
                    </a:rPr>
                    <a:t>Planning</a:t>
                  </a:r>
                  <a:endParaRPr lang="en-US" b="1" dirty="0">
                    <a:latin typeface="Calibri Light"/>
                    <a:ea typeface="Calibri Light"/>
                    <a:cs typeface="Calibri Light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BF9BEF6-A7F8-25F0-F79E-9FAD318FE7E1}"/>
                    </a:ext>
                  </a:extLst>
                </p:cNvPr>
                <p:cNvSpPr txBox="1"/>
                <p:nvPr/>
              </p:nvSpPr>
              <p:spPr>
                <a:xfrm>
                  <a:off x="-52917" y="3005665"/>
                  <a:ext cx="2372784" cy="646331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dirty="0">
                      <a:ea typeface="+mn-lt"/>
                      <a:cs typeface="+mn-lt"/>
                    </a:rPr>
                    <a:t>Requirements finalized upfront</a:t>
                  </a:r>
                  <a:endParaRPr lang="en-US" dirty="0"/>
                </a:p>
              </p:txBody>
            </p:sp>
          </p:grp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2D384807-91C7-B2EE-BDEE-383E057295CF}"/>
                  </a:ext>
                </a:extLst>
              </p:cNvPr>
              <p:cNvSpPr/>
              <p:nvPr/>
            </p:nvSpPr>
            <p:spPr>
              <a:xfrm rot="5400000">
                <a:off x="2397124" y="1444625"/>
                <a:ext cx="1132416" cy="529166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08341A9-C69B-79A5-3BDD-C50AD5E20466}"/>
                </a:ext>
              </a:extLst>
            </p:cNvPr>
            <p:cNvSpPr txBox="1"/>
            <p:nvPr/>
          </p:nvSpPr>
          <p:spPr>
            <a:xfrm>
              <a:off x="158749" y="3799417"/>
              <a:ext cx="2391833" cy="206210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Scope finalized before development begins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Limited flexibility for mid-project </a:t>
              </a:r>
              <a:r>
                <a:rPr lang="en-US" sz="1600">
                  <a:ea typeface="+mn-lt"/>
                  <a:cs typeface="+mn-lt"/>
                </a:rPr>
                <a:t>changes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Detailed</a:t>
              </a:r>
              <a:r>
                <a:rPr lang="en-US" sz="1600" dirty="0">
                  <a:ea typeface="+mn-lt"/>
                  <a:cs typeface="+mn-lt"/>
                </a:rPr>
                <a:t> documentation drives execution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302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9FDA-94B2-C3E5-8CDF-0D4099CAD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D3AE-A3FF-ECF1-3F1F-06A457B2A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950" y="365125"/>
            <a:ext cx="7816850" cy="3230563"/>
          </a:xfrm>
        </p:spPr>
        <p:txBody>
          <a:bodyPr/>
          <a:lstStyle/>
          <a:p>
            <a:r>
              <a:rPr lang="en-US" sz="4000" dirty="0">
                <a:latin typeface="Calibri Light"/>
                <a:ea typeface="Calibri Light"/>
                <a:cs typeface="Calibri Light"/>
              </a:rPr>
              <a:t>Why Consider Agile at </a:t>
            </a:r>
            <a:r>
              <a:rPr lang="en-US" sz="4000" dirty="0" err="1">
                <a:latin typeface="Calibri Light"/>
                <a:ea typeface="Calibri Light"/>
                <a:cs typeface="Calibri Light"/>
              </a:rPr>
              <a:t>ChadaTech</a:t>
            </a:r>
            <a:r>
              <a:rPr lang="en-US" sz="4000" dirty="0">
                <a:latin typeface="Calibri Light"/>
                <a:ea typeface="Calibri Light"/>
                <a:cs typeface="Calibri Light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98F5D-82C0-D93B-F371-9316E4983F06}"/>
              </a:ext>
            </a:extLst>
          </p:cNvPr>
          <p:cNvSpPr txBox="1"/>
          <p:nvPr/>
        </p:nvSpPr>
        <p:spPr>
          <a:xfrm>
            <a:off x="338666" y="19685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B66211D4-EB30-BCE1-FC22-052A91AB066C}"/>
              </a:ext>
            </a:extLst>
          </p:cNvPr>
          <p:cNvSpPr/>
          <p:nvPr/>
        </p:nvSpPr>
        <p:spPr>
          <a:xfrm rot="5400000">
            <a:off x="2411942" y="1459442"/>
            <a:ext cx="1132416" cy="529166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52FB3-161A-D578-FE64-A70AEAE46913}"/>
              </a:ext>
            </a:extLst>
          </p:cNvPr>
          <p:cNvSpPr txBox="1"/>
          <p:nvPr/>
        </p:nvSpPr>
        <p:spPr>
          <a:xfrm>
            <a:off x="158750" y="3862916"/>
            <a:ext cx="2402416" cy="2264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2285042-0BB8-99A8-9CD9-E5DD7D1DB7FF}"/>
              </a:ext>
            </a:extLst>
          </p:cNvPr>
          <p:cNvGrpSpPr/>
          <p:nvPr/>
        </p:nvGrpSpPr>
        <p:grpSpPr>
          <a:xfrm>
            <a:off x="8731250" y="-10583"/>
            <a:ext cx="3460749" cy="6857999"/>
            <a:chOff x="8731250" y="0"/>
            <a:chExt cx="3460749" cy="68579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3EF1302-A45B-326F-00C1-E63568B84C41}"/>
                </a:ext>
              </a:extLst>
            </p:cNvPr>
            <p:cNvGrpSpPr/>
            <p:nvPr/>
          </p:nvGrpSpPr>
          <p:grpSpPr>
            <a:xfrm>
              <a:off x="8731250" y="0"/>
              <a:ext cx="3460749" cy="6857999"/>
              <a:chOff x="8731250" y="0"/>
              <a:chExt cx="3460749" cy="685799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BABE884-B2C0-E4B4-E309-F5CD77CDC1E7}"/>
                  </a:ext>
                </a:extLst>
              </p:cNvPr>
              <p:cNvSpPr/>
              <p:nvPr/>
            </p:nvSpPr>
            <p:spPr>
              <a:xfrm>
                <a:off x="8731250" y="0"/>
                <a:ext cx="3460749" cy="6857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0D8C12-E543-2A4A-731E-516E974A7D1A}"/>
                  </a:ext>
                </a:extLst>
              </p:cNvPr>
              <p:cNvSpPr txBox="1"/>
              <p:nvPr/>
            </p:nvSpPr>
            <p:spPr>
              <a:xfrm>
                <a:off x="9165166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Deployment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93C7E2-EF3A-7287-6249-E75F86FDBB3B}"/>
                  </a:ext>
                </a:extLst>
              </p:cNvPr>
              <p:cNvSpPr txBox="1"/>
              <p:nvPr/>
            </p:nvSpPr>
            <p:spPr>
              <a:xfrm>
                <a:off x="9091084" y="2677582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>
                    <a:ea typeface="+mn-lt"/>
                    <a:cs typeface="+mn-lt"/>
                  </a:rPr>
                  <a:t>Final product released at project completion</a:t>
                </a:r>
                <a:endParaRPr 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4E39424-BE1F-BE39-741C-31761A5D68E5}"/>
                </a:ext>
              </a:extLst>
            </p:cNvPr>
            <p:cNvSpPr txBox="1"/>
            <p:nvPr/>
          </p:nvSpPr>
          <p:spPr>
            <a:xfrm>
              <a:off x="8889999" y="3862917"/>
              <a:ext cx="3153833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Full system delivered at </a:t>
              </a:r>
              <a:r>
                <a:rPr lang="en-US" sz="1600">
                  <a:ea typeface="+mn-lt"/>
                  <a:cs typeface="+mn-lt"/>
                </a:rPr>
                <a:t>once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Stakeholder</a:t>
              </a:r>
              <a:r>
                <a:rPr lang="en-US" sz="1600" dirty="0">
                  <a:ea typeface="+mn-lt"/>
                  <a:cs typeface="+mn-lt"/>
                </a:rPr>
                <a:t> validation occurs </a:t>
              </a:r>
              <a:r>
                <a:rPr lang="en-US" sz="1600">
                  <a:ea typeface="+mn-lt"/>
                  <a:cs typeface="+mn-lt"/>
                </a:rPr>
                <a:t>late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Risk of misalignment </a:t>
              </a:r>
              <a:r>
                <a:rPr lang="en-US" sz="1600" dirty="0">
                  <a:ea typeface="+mn-lt"/>
                  <a:cs typeface="+mn-lt"/>
                </a:rPr>
                <a:t>discovered near end</a:t>
              </a:r>
              <a:endParaRPr lang="en-US"/>
            </a:p>
            <a:p>
              <a:pPr marL="285750" indent="-285750">
                <a:buFont typeface="Arial"/>
                <a:buChar char="•"/>
              </a:pPr>
              <a:endParaRPr lang="en-US" sz="1600" dirty="0">
                <a:latin typeface="Calibri Light"/>
                <a:ea typeface="Calibri Light"/>
                <a:cs typeface="Calibri Light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8B97EF-86FC-5F10-5BB4-BB44A3C9E081}"/>
              </a:ext>
            </a:extLst>
          </p:cNvPr>
          <p:cNvGrpSpPr/>
          <p:nvPr/>
        </p:nvGrpSpPr>
        <p:grpSpPr>
          <a:xfrm>
            <a:off x="5630333" y="-10583"/>
            <a:ext cx="3630081" cy="6860805"/>
            <a:chOff x="5630334" y="0"/>
            <a:chExt cx="3630081" cy="686080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56A28BF-A9C8-3FA7-6AC7-EEECCF1A6DE6}"/>
                </a:ext>
              </a:extLst>
            </p:cNvPr>
            <p:cNvGrpSpPr/>
            <p:nvPr/>
          </p:nvGrpSpPr>
          <p:grpSpPr>
            <a:xfrm>
              <a:off x="5630334" y="0"/>
              <a:ext cx="3100915" cy="6857999"/>
              <a:chOff x="5630334" y="0"/>
              <a:chExt cx="3100915" cy="685799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2DC6B3A-283C-5788-B758-45CC7301CCD3}"/>
                  </a:ext>
                </a:extLst>
              </p:cNvPr>
              <p:cNvSpPr/>
              <p:nvPr/>
            </p:nvSpPr>
            <p:spPr>
              <a:xfrm>
                <a:off x="5630334" y="0"/>
                <a:ext cx="3100915" cy="6857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FC7257-63A0-0918-F7A1-A3804CEBF5B6}"/>
                  </a:ext>
                </a:extLst>
              </p:cNvPr>
              <p:cNvSpPr txBox="1"/>
              <p:nvPr/>
            </p:nvSpPr>
            <p:spPr>
              <a:xfrm>
                <a:off x="5810250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Testing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0E1853-2BF8-8A26-8218-E0C99300B7D6}"/>
                  </a:ext>
                </a:extLst>
              </p:cNvPr>
              <p:cNvSpPr txBox="1"/>
              <p:nvPr/>
            </p:nvSpPr>
            <p:spPr>
              <a:xfrm>
                <a:off x="5810249" y="2677583"/>
                <a:ext cx="2743200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>
                    <a:ea typeface="+mn-lt"/>
                    <a:cs typeface="+mn-lt"/>
                  </a:rPr>
                  <a:t>Validation occurs after development</a:t>
                </a:r>
                <a:endParaRPr lang="en-US"/>
              </a:p>
              <a:p>
                <a:pPr algn="l"/>
                <a:endParaRPr lang="en-US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883076A-F714-5E1B-614E-B1A629EE3E1A}"/>
                </a:ext>
              </a:extLst>
            </p:cNvPr>
            <p:cNvSpPr txBox="1"/>
            <p:nvPr/>
          </p:nvSpPr>
          <p:spPr>
            <a:xfrm>
              <a:off x="5905499" y="3799416"/>
              <a:ext cx="2741083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Defects discovered late in lifecycle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Rework impacts schedule and cost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Limited early feedback opportunities</a:t>
              </a:r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D10CBCB-B908-9352-4360-D39F5E0AA2F1}"/>
                </a:ext>
              </a:extLst>
            </p:cNvPr>
            <p:cNvSpPr txBox="1"/>
            <p:nvPr/>
          </p:nvSpPr>
          <p:spPr>
            <a:xfrm>
              <a:off x="6603999" y="6614584"/>
              <a:ext cx="2127250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ea typeface="+mn-lt"/>
                  <a:cs typeface="+mn-lt"/>
                </a:rPr>
                <a:t>(PMI, 2023; Thesing et al., 2021)</a:t>
              </a:r>
              <a:endParaRPr lang="en-US">
                <a:ea typeface="+mn-lt"/>
                <a:cs typeface="+mn-lt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AAF03D50-A992-F3AB-4310-35A42802BB21}"/>
                </a:ext>
              </a:extLst>
            </p:cNvPr>
            <p:cNvSpPr/>
            <p:nvPr/>
          </p:nvSpPr>
          <p:spPr>
            <a:xfrm rot="5400000">
              <a:off x="8429624" y="1328209"/>
              <a:ext cx="1132416" cy="529166"/>
            </a:xfrm>
            <a:prstGeom prst="triangl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029BC0D-59EB-2966-4419-25D452A9B3A7}"/>
              </a:ext>
            </a:extLst>
          </p:cNvPr>
          <p:cNvGrpSpPr/>
          <p:nvPr/>
        </p:nvGrpSpPr>
        <p:grpSpPr>
          <a:xfrm>
            <a:off x="2709334" y="-10584"/>
            <a:ext cx="3460748" cy="6857999"/>
            <a:chOff x="2698751" y="-10584"/>
            <a:chExt cx="3460748" cy="685799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CF0FB5E-E4D0-A11D-34DC-5C9766E7E273}"/>
                </a:ext>
              </a:extLst>
            </p:cNvPr>
            <p:cNvGrpSpPr/>
            <p:nvPr/>
          </p:nvGrpSpPr>
          <p:grpSpPr>
            <a:xfrm>
              <a:off x="2698751" y="-10584"/>
              <a:ext cx="2923116" cy="6857999"/>
              <a:chOff x="2709333" y="-1"/>
              <a:chExt cx="2923116" cy="685799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19D01C-BA25-37BA-8C2C-A9D8D1A2E915}"/>
                  </a:ext>
                </a:extLst>
              </p:cNvPr>
              <p:cNvSpPr/>
              <p:nvPr/>
            </p:nvSpPr>
            <p:spPr>
              <a:xfrm>
                <a:off x="2709333" y="-1"/>
                <a:ext cx="2920999" cy="6857999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6F0824-34A0-2FA3-C6D7-F398BF71BC36}"/>
                  </a:ext>
                </a:extLst>
              </p:cNvPr>
              <p:cNvSpPr txBox="1"/>
              <p:nvPr/>
            </p:nvSpPr>
            <p:spPr>
              <a:xfrm>
                <a:off x="2889249" y="151341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latin typeface="Calibri Light"/>
                    <a:ea typeface="Calibri Light"/>
                    <a:cs typeface="Calibri Light"/>
                  </a:rPr>
                  <a:t>Development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F8C04A-4A2D-431B-5BBE-0E554E7AFFE8}"/>
                  </a:ext>
                </a:extLst>
              </p:cNvPr>
              <p:cNvSpPr txBox="1"/>
              <p:nvPr/>
            </p:nvSpPr>
            <p:spPr>
              <a:xfrm>
                <a:off x="2804583" y="2677583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>
                    <a:ea typeface="+mn-lt"/>
                    <a:cs typeface="+mn-lt"/>
                  </a:rPr>
                  <a:t>Implementation follows a fixed approved design</a:t>
                </a:r>
                <a:endParaRPr lang="en-US"/>
              </a:p>
            </p:txBody>
          </p:sp>
        </p:grp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18AC383F-C702-9984-CFC0-4F7E2E59C6EB}"/>
                </a:ext>
              </a:extLst>
            </p:cNvPr>
            <p:cNvSpPr/>
            <p:nvPr/>
          </p:nvSpPr>
          <p:spPr>
            <a:xfrm rot="5400000">
              <a:off x="5328708" y="1444625"/>
              <a:ext cx="1132416" cy="529166"/>
            </a:xfrm>
            <a:prstGeom prst="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54D36C2-C9F0-4811-FD52-7FF7138328C7}"/>
                </a:ext>
              </a:extLst>
            </p:cNvPr>
            <p:cNvSpPr txBox="1"/>
            <p:nvPr/>
          </p:nvSpPr>
          <p:spPr>
            <a:xfrm>
              <a:off x="2804583" y="3841750"/>
              <a:ext cx="2709333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Work proceeds sequentially</a:t>
              </a:r>
              <a:endParaRPr lang="en-US" dirty="0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Changes require formal change </a:t>
              </a:r>
              <a:r>
                <a:rPr lang="en-US" sz="1600">
                  <a:ea typeface="+mn-lt"/>
                  <a:cs typeface="+mn-lt"/>
                </a:rPr>
                <a:t>control</a:t>
              </a:r>
              <a:endParaRPr lang="en-US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Limited stakeholder interaction during </a:t>
              </a:r>
              <a:r>
                <a:rPr lang="en-US" sz="1600">
                  <a:ea typeface="+mn-lt"/>
                  <a:cs typeface="+mn-lt"/>
                </a:rPr>
                <a:t>build</a:t>
              </a:r>
              <a:endParaRPr lang="en-US">
                <a:latin typeface="Calibri Light"/>
                <a:ea typeface="Calibri Light"/>
                <a:cs typeface="Calibri Light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3E2E96B-7D06-6EE2-CF78-A86FAD457C80}"/>
              </a:ext>
            </a:extLst>
          </p:cNvPr>
          <p:cNvSpPr txBox="1"/>
          <p:nvPr/>
        </p:nvSpPr>
        <p:spPr>
          <a:xfrm>
            <a:off x="3111500" y="338667"/>
            <a:ext cx="6477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WATERFALL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DA22EA-3332-CAC8-AFD7-CB2FAB469501}"/>
              </a:ext>
            </a:extLst>
          </p:cNvPr>
          <p:cNvSpPr txBox="1"/>
          <p:nvPr/>
        </p:nvSpPr>
        <p:spPr>
          <a:xfrm>
            <a:off x="3788833" y="5704416"/>
            <a:ext cx="55033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Waterfall executes SDLC phases sequentially, often delaying validation and stakeholder feedback until later stages (PMI, 2023).</a:t>
            </a:r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747C316-9768-1E36-0D61-B57139C15327}"/>
              </a:ext>
            </a:extLst>
          </p:cNvPr>
          <p:cNvGrpSpPr/>
          <p:nvPr/>
        </p:nvGrpSpPr>
        <p:grpSpPr>
          <a:xfrm>
            <a:off x="0" y="0"/>
            <a:ext cx="3227915" cy="6857999"/>
            <a:chOff x="0" y="0"/>
            <a:chExt cx="3227915" cy="685799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8273297-06EA-B623-7A74-44291CFD3541}"/>
                </a:ext>
              </a:extLst>
            </p:cNvPr>
            <p:cNvGrpSpPr/>
            <p:nvPr/>
          </p:nvGrpSpPr>
          <p:grpSpPr>
            <a:xfrm>
              <a:off x="0" y="0"/>
              <a:ext cx="3227915" cy="6857999"/>
              <a:chOff x="0" y="0"/>
              <a:chExt cx="3227915" cy="685799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CAC1760-73B8-ECB0-3D56-A12044C40469}"/>
                  </a:ext>
                </a:extLst>
              </p:cNvPr>
              <p:cNvGrpSpPr/>
              <p:nvPr/>
            </p:nvGrpSpPr>
            <p:grpSpPr>
              <a:xfrm>
                <a:off x="0" y="0"/>
                <a:ext cx="2743200" cy="6857999"/>
                <a:chOff x="-222250" y="317500"/>
                <a:chExt cx="2743200" cy="6857999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120001E-A47D-9C22-681C-98A31F61C72D}"/>
                    </a:ext>
                  </a:extLst>
                </p:cNvPr>
                <p:cNvSpPr/>
                <p:nvPr/>
              </p:nvSpPr>
              <p:spPr>
                <a:xfrm>
                  <a:off x="-222250" y="317500"/>
                  <a:ext cx="2709332" cy="6857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3289DA5-4F9B-C75F-483E-C53D6CE2C135}"/>
                    </a:ext>
                  </a:extLst>
                </p:cNvPr>
                <p:cNvSpPr txBox="1"/>
                <p:nvPr/>
              </p:nvSpPr>
              <p:spPr>
                <a:xfrm>
                  <a:off x="-222250" y="1830916"/>
                  <a:ext cx="2743200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latin typeface="Calibri Light"/>
                      <a:ea typeface="Calibri Light"/>
                      <a:cs typeface="Calibri Light"/>
                    </a:rPr>
                    <a:t>Planning</a:t>
                  </a:r>
                  <a:endParaRPr lang="en-US" b="1" dirty="0">
                    <a:latin typeface="Calibri Light"/>
                    <a:ea typeface="Calibri Light"/>
                    <a:cs typeface="Calibri Light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6F66428-4B58-9EF3-DA83-35B6B94A4575}"/>
                    </a:ext>
                  </a:extLst>
                </p:cNvPr>
                <p:cNvSpPr txBox="1"/>
                <p:nvPr/>
              </p:nvSpPr>
              <p:spPr>
                <a:xfrm>
                  <a:off x="-52917" y="3005665"/>
                  <a:ext cx="2372784" cy="646331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dirty="0">
                      <a:ea typeface="+mn-lt"/>
                      <a:cs typeface="+mn-lt"/>
                    </a:rPr>
                    <a:t>Requirements finalized upfront</a:t>
                  </a:r>
                  <a:endParaRPr lang="en-US" dirty="0"/>
                </a:p>
              </p:txBody>
            </p:sp>
          </p:grp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48DEB45D-696F-1EDA-4FC0-D3596CF03C04}"/>
                  </a:ext>
                </a:extLst>
              </p:cNvPr>
              <p:cNvSpPr/>
              <p:nvPr/>
            </p:nvSpPr>
            <p:spPr>
              <a:xfrm rot="5400000">
                <a:off x="2397124" y="1444625"/>
                <a:ext cx="1132416" cy="529166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E68E25-E69E-9A22-C10F-0D23745605BD}"/>
                </a:ext>
              </a:extLst>
            </p:cNvPr>
            <p:cNvSpPr txBox="1"/>
            <p:nvPr/>
          </p:nvSpPr>
          <p:spPr>
            <a:xfrm>
              <a:off x="158749" y="3799417"/>
              <a:ext cx="2391833" cy="206210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Scope finalized before development begins</a:t>
              </a:r>
              <a:endParaRPr lang="en-US" dirty="0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Limited flexibility for mid-project </a:t>
              </a:r>
              <a:r>
                <a:rPr lang="en-US" sz="1600">
                  <a:ea typeface="+mn-lt"/>
                  <a:cs typeface="+mn-lt"/>
                </a:rPr>
                <a:t>changes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Detailed</a:t>
              </a:r>
              <a:r>
                <a:rPr lang="en-US" sz="1600" dirty="0">
                  <a:ea typeface="+mn-lt"/>
                  <a:cs typeface="+mn-lt"/>
                </a:rPr>
                <a:t> documentation drives execution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52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1203-6E7D-5A95-1A54-5B9E81AB9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E25E-7ADE-CE98-1ED8-22919247C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950" y="365125"/>
            <a:ext cx="7816850" cy="3230563"/>
          </a:xfrm>
        </p:spPr>
        <p:txBody>
          <a:bodyPr/>
          <a:lstStyle/>
          <a:p>
            <a:r>
              <a:rPr lang="en-US" sz="4000">
                <a:ea typeface="+mj-lt"/>
                <a:cs typeface="+mj-lt"/>
              </a:rPr>
              <a:t>Selecting the Appropriate Development Approach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6DCF8-F7A0-9CDD-0E6C-CBF35C37AB29}"/>
              </a:ext>
            </a:extLst>
          </p:cNvPr>
          <p:cNvSpPr txBox="1"/>
          <p:nvPr/>
        </p:nvSpPr>
        <p:spPr>
          <a:xfrm>
            <a:off x="338666" y="19685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40D62558-EEBB-9071-18CB-306251CA5B9A}"/>
              </a:ext>
            </a:extLst>
          </p:cNvPr>
          <p:cNvSpPr/>
          <p:nvPr/>
        </p:nvSpPr>
        <p:spPr>
          <a:xfrm rot="5400000">
            <a:off x="2411942" y="1459442"/>
            <a:ext cx="1132416" cy="529166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2C88-4D13-ECFF-F1A7-CE3B00B9D814}"/>
              </a:ext>
            </a:extLst>
          </p:cNvPr>
          <p:cNvSpPr txBox="1"/>
          <p:nvPr/>
        </p:nvSpPr>
        <p:spPr>
          <a:xfrm>
            <a:off x="158750" y="3862916"/>
            <a:ext cx="2402416" cy="2264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FFC4218-8C85-77B4-77AD-52BCB73CAAB1}"/>
              </a:ext>
            </a:extLst>
          </p:cNvPr>
          <p:cNvGrpSpPr/>
          <p:nvPr/>
        </p:nvGrpSpPr>
        <p:grpSpPr>
          <a:xfrm>
            <a:off x="-486833" y="0"/>
            <a:ext cx="3460749" cy="6857999"/>
            <a:chOff x="8731250" y="0"/>
            <a:chExt cx="3460749" cy="68579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46DCE6-3C0D-251C-6074-986CEE6D3565}"/>
                </a:ext>
              </a:extLst>
            </p:cNvPr>
            <p:cNvGrpSpPr/>
            <p:nvPr/>
          </p:nvGrpSpPr>
          <p:grpSpPr>
            <a:xfrm>
              <a:off x="8731250" y="0"/>
              <a:ext cx="3460749" cy="6857999"/>
              <a:chOff x="8731250" y="0"/>
              <a:chExt cx="3460749" cy="685799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8DD12A1-0B90-CA66-09AE-BF341F4F2EBC}"/>
                  </a:ext>
                </a:extLst>
              </p:cNvPr>
              <p:cNvSpPr/>
              <p:nvPr/>
            </p:nvSpPr>
            <p:spPr>
              <a:xfrm>
                <a:off x="8731250" y="0"/>
                <a:ext cx="3460749" cy="6857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5A6B83-C996-2CDC-601F-31D15A43B6FE}"/>
                  </a:ext>
                </a:extLst>
              </p:cNvPr>
              <p:cNvSpPr txBox="1"/>
              <p:nvPr/>
            </p:nvSpPr>
            <p:spPr>
              <a:xfrm>
                <a:off x="9165166" y="1513416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Time-to-Value Expectations</a:t>
                </a:r>
                <a:endParaRPr lang="en-US" b="1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AF48A23-ED60-BEBA-894C-E6DE507AB044}"/>
                  </a:ext>
                </a:extLst>
              </p:cNvPr>
              <p:cNvSpPr txBox="1"/>
              <p:nvPr/>
            </p:nvSpPr>
            <p:spPr>
              <a:xfrm>
                <a:off x="9091084" y="2677582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Delivery Expectations</a:t>
                </a:r>
                <a:endParaRPr lang="en-US" b="1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96B6C3-A386-F169-F2AA-DCB9F7AFFCAB}"/>
                </a:ext>
              </a:extLst>
            </p:cNvPr>
            <p:cNvSpPr txBox="1"/>
            <p:nvPr/>
          </p:nvSpPr>
          <p:spPr>
            <a:xfrm>
              <a:off x="8889999" y="3862917"/>
              <a:ext cx="3153833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Long, fixed release cycles align with </a:t>
              </a:r>
              <a:r>
                <a:rPr lang="en-US" sz="1600">
                  <a:ea typeface="+mn-lt"/>
                  <a:cs typeface="+mn-lt"/>
                </a:rPr>
                <a:t>Waterfall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Early</a:t>
              </a:r>
              <a:r>
                <a:rPr lang="en-US" sz="1600" dirty="0">
                  <a:ea typeface="+mn-lt"/>
                  <a:cs typeface="+mn-lt"/>
                </a:rPr>
                <a:t> incremental delivery </a:t>
              </a:r>
              <a:r>
                <a:rPr lang="en-US" sz="1600">
                  <a:ea typeface="+mn-lt"/>
                  <a:cs typeface="+mn-lt"/>
                </a:rPr>
                <a:t>favors Agile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Faster value realization </a:t>
              </a:r>
              <a:r>
                <a:rPr lang="en-US" sz="1600" dirty="0">
                  <a:ea typeface="+mn-lt"/>
                  <a:cs typeface="+mn-lt"/>
                </a:rPr>
                <a:t>improves return on investment</a:t>
              </a:r>
              <a:endParaRPr lang="en-US">
                <a:ea typeface="+mn-lt"/>
                <a:cs typeface="+mn-lt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E9DE117-0AB1-81F9-A958-6441F03B63A9}"/>
              </a:ext>
            </a:extLst>
          </p:cNvPr>
          <p:cNvGrpSpPr/>
          <p:nvPr/>
        </p:nvGrpSpPr>
        <p:grpSpPr>
          <a:xfrm>
            <a:off x="-201084" y="95250"/>
            <a:ext cx="4000499" cy="6860805"/>
            <a:chOff x="5630334" y="0"/>
            <a:chExt cx="4000499" cy="686080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549391C-EEE5-541E-6170-F777D47947E6}"/>
                </a:ext>
              </a:extLst>
            </p:cNvPr>
            <p:cNvGrpSpPr/>
            <p:nvPr/>
          </p:nvGrpSpPr>
          <p:grpSpPr>
            <a:xfrm>
              <a:off x="5630334" y="0"/>
              <a:ext cx="3100915" cy="6857999"/>
              <a:chOff x="5630334" y="0"/>
              <a:chExt cx="3100915" cy="685799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F408204-B1A5-F67A-7DC0-6F6F73509BC5}"/>
                  </a:ext>
                </a:extLst>
              </p:cNvPr>
              <p:cNvSpPr/>
              <p:nvPr/>
            </p:nvSpPr>
            <p:spPr>
              <a:xfrm>
                <a:off x="5630334" y="0"/>
                <a:ext cx="3100915" cy="6857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940D3B-91B4-7EFA-5444-90D24BDFEF87}"/>
                  </a:ext>
                </a:extLst>
              </p:cNvPr>
              <p:cNvSpPr txBox="1"/>
              <p:nvPr/>
            </p:nvSpPr>
            <p:spPr>
              <a:xfrm>
                <a:off x="5884333" y="154516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Risk and Complexity</a:t>
                </a:r>
                <a:endParaRPr lang="en-US" b="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65DA00-A07A-C3D6-FE98-4BF3F238F9A0}"/>
                  </a:ext>
                </a:extLst>
              </p:cNvPr>
              <p:cNvSpPr txBox="1"/>
              <p:nvPr/>
            </p:nvSpPr>
            <p:spPr>
              <a:xfrm>
                <a:off x="5810249" y="2677583"/>
                <a:ext cx="2743200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Project Risk and Complexity</a:t>
                </a:r>
                <a:endParaRPr lang="en-US" b="1"/>
              </a:p>
              <a:p>
                <a:pPr algn="l"/>
                <a:endParaRPr lang="en-US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1566492-E7DB-5C9C-0CC0-80098684B054}"/>
                </a:ext>
              </a:extLst>
            </p:cNvPr>
            <p:cNvSpPr txBox="1"/>
            <p:nvPr/>
          </p:nvSpPr>
          <p:spPr>
            <a:xfrm>
              <a:off x="5905499" y="3799416"/>
              <a:ext cx="2741083" cy="18158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High technical uncertainty benefits from iterative validation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Late defect discovery increases cost </a:t>
              </a:r>
              <a:r>
                <a:rPr lang="en-US" sz="1600">
                  <a:ea typeface="+mn-lt"/>
                  <a:cs typeface="+mn-lt"/>
                </a:rPr>
                <a:t>exposure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Agile</a:t>
              </a:r>
              <a:r>
                <a:rPr lang="en-US" sz="1600" dirty="0">
                  <a:ea typeface="+mn-lt"/>
                  <a:cs typeface="+mn-lt"/>
                </a:rPr>
                <a:t> enables incremental risk reduction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97910DA-5691-6C32-069B-FCCCA9C52E2E}"/>
                </a:ext>
              </a:extLst>
            </p:cNvPr>
            <p:cNvSpPr txBox="1"/>
            <p:nvPr/>
          </p:nvSpPr>
          <p:spPr>
            <a:xfrm>
              <a:off x="6275917" y="6614584"/>
              <a:ext cx="335491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dirty="0">
                  <a:ea typeface="+mn-lt"/>
                  <a:cs typeface="+mn-lt"/>
                </a:rPr>
                <a:t>(PMI, 2023; McKinsey &amp; Company, </a:t>
              </a:r>
              <a:r>
                <a:rPr lang="en-US" sz="1000">
                  <a:ea typeface="+mn-lt"/>
                  <a:cs typeface="+mn-lt"/>
                </a:rPr>
                <a:t>2022</a:t>
              </a:r>
              <a:r>
                <a:rPr lang="en-US" sz="1000">
                  <a:latin typeface="Calibri Light"/>
                  <a:ea typeface="Calibri Light"/>
                  <a:cs typeface="Calibri Light"/>
                </a:rPr>
                <a:t>)</a:t>
              </a:r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4C93D311-0637-F338-1506-5D6EC0013894}"/>
                </a:ext>
              </a:extLst>
            </p:cNvPr>
            <p:cNvSpPr/>
            <p:nvPr/>
          </p:nvSpPr>
          <p:spPr>
            <a:xfrm rot="5400000">
              <a:off x="8429624" y="1328209"/>
              <a:ext cx="1132416" cy="529166"/>
            </a:xfrm>
            <a:prstGeom prst="triangl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4A09688-ABF9-AC62-1AF7-74AD83431DDF}"/>
              </a:ext>
            </a:extLst>
          </p:cNvPr>
          <p:cNvGrpSpPr/>
          <p:nvPr/>
        </p:nvGrpSpPr>
        <p:grpSpPr>
          <a:xfrm>
            <a:off x="-116416" y="-10584"/>
            <a:ext cx="3460748" cy="6857999"/>
            <a:chOff x="2698751" y="-10584"/>
            <a:chExt cx="3460748" cy="685799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ACC7A01-7738-926E-423D-382F646D3F78}"/>
                </a:ext>
              </a:extLst>
            </p:cNvPr>
            <p:cNvGrpSpPr/>
            <p:nvPr/>
          </p:nvGrpSpPr>
          <p:grpSpPr>
            <a:xfrm>
              <a:off x="2698751" y="-10584"/>
              <a:ext cx="2920999" cy="6857999"/>
              <a:chOff x="2709333" y="-1"/>
              <a:chExt cx="2920999" cy="685799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2E78374-73D0-1769-F8C8-FEBCDF7D8AE5}"/>
                  </a:ext>
                </a:extLst>
              </p:cNvPr>
              <p:cNvSpPr/>
              <p:nvPr/>
            </p:nvSpPr>
            <p:spPr>
              <a:xfrm>
                <a:off x="2709333" y="-1"/>
                <a:ext cx="2920999" cy="6857999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3285D0-E729-95B6-DB4E-93E641272A61}"/>
                  </a:ext>
                </a:extLst>
              </p:cNvPr>
              <p:cNvSpPr txBox="1"/>
              <p:nvPr/>
            </p:nvSpPr>
            <p:spPr>
              <a:xfrm>
                <a:off x="2973916" y="1513416"/>
                <a:ext cx="239395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Stakeholder Involvement</a:t>
                </a:r>
                <a:endParaRPr lang="en-US" b="1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522E0A-AA9A-DE6D-BECA-AED431FE3F56}"/>
                  </a:ext>
                </a:extLst>
              </p:cNvPr>
              <p:cNvSpPr txBox="1"/>
              <p:nvPr/>
            </p:nvSpPr>
            <p:spPr>
              <a:xfrm>
                <a:off x="2804583" y="2677583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Level of Stakeholder Engagement</a:t>
                </a:r>
                <a:endParaRPr lang="en-US"/>
              </a:p>
            </p:txBody>
          </p:sp>
        </p:grp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9E2FC902-5904-082A-73BA-2123EF4067BE}"/>
                </a:ext>
              </a:extLst>
            </p:cNvPr>
            <p:cNvSpPr/>
            <p:nvPr/>
          </p:nvSpPr>
          <p:spPr>
            <a:xfrm rot="5400000">
              <a:off x="5328708" y="1444625"/>
              <a:ext cx="1132416" cy="529166"/>
            </a:xfrm>
            <a:prstGeom prst="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3DFF422-C12E-866A-75C2-C64B3031CDD6}"/>
                </a:ext>
              </a:extLst>
            </p:cNvPr>
            <p:cNvSpPr txBox="1"/>
            <p:nvPr/>
          </p:nvSpPr>
          <p:spPr>
            <a:xfrm>
              <a:off x="2804583" y="3841750"/>
              <a:ext cx="2709333" cy="206210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Limited availability may align with Waterfall</a:t>
              </a:r>
              <a:endParaRPr lang="en-US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Continuous collaboration supports Agile success</a:t>
              </a:r>
              <a:endParaRPr lang="en-US">
                <a:latin typeface="Calibri Light"/>
                <a:ea typeface="Calibri Light"/>
                <a:cs typeface="Calibri Ligh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Frequent feedback reduces misalignment risk</a:t>
              </a:r>
              <a:endParaRPr lang="en-US">
                <a:latin typeface="Calibri Light"/>
                <a:ea typeface="Calibri Light"/>
                <a:cs typeface="Calibri Light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9D4BB68-EEF4-0040-6B46-78C08B20397C}"/>
              </a:ext>
            </a:extLst>
          </p:cNvPr>
          <p:cNvSpPr txBox="1"/>
          <p:nvPr/>
        </p:nvSpPr>
        <p:spPr>
          <a:xfrm>
            <a:off x="-3048000" y="5926666"/>
            <a:ext cx="569383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Selecting an approach should align with project uncertainty, stakeholder engagement, and delivery expectations (PMI, 2023).</a:t>
            </a:r>
            <a:endParaRPr lang="en-US" sz="16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1F35C8-1242-B9BF-6632-D9C7122CB6CD}"/>
              </a:ext>
            </a:extLst>
          </p:cNvPr>
          <p:cNvGrpSpPr/>
          <p:nvPr/>
        </p:nvGrpSpPr>
        <p:grpSpPr>
          <a:xfrm>
            <a:off x="0" y="0"/>
            <a:ext cx="3227915" cy="6857999"/>
            <a:chOff x="0" y="0"/>
            <a:chExt cx="3227915" cy="685799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9B2EF2E-256C-91E1-C564-66B0EEDDCD01}"/>
                </a:ext>
              </a:extLst>
            </p:cNvPr>
            <p:cNvGrpSpPr/>
            <p:nvPr/>
          </p:nvGrpSpPr>
          <p:grpSpPr>
            <a:xfrm>
              <a:off x="0" y="0"/>
              <a:ext cx="3227915" cy="6857999"/>
              <a:chOff x="0" y="0"/>
              <a:chExt cx="3227915" cy="685799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BAEBF1E-C918-9078-0130-627FE535C78B}"/>
                  </a:ext>
                </a:extLst>
              </p:cNvPr>
              <p:cNvGrpSpPr/>
              <p:nvPr/>
            </p:nvGrpSpPr>
            <p:grpSpPr>
              <a:xfrm>
                <a:off x="0" y="0"/>
                <a:ext cx="2743200" cy="6857999"/>
                <a:chOff x="-222250" y="317500"/>
                <a:chExt cx="2743200" cy="6857999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3E70FD8A-FF27-0862-26CD-4FFFA5C2B5D2}"/>
                    </a:ext>
                  </a:extLst>
                </p:cNvPr>
                <p:cNvSpPr/>
                <p:nvPr/>
              </p:nvSpPr>
              <p:spPr>
                <a:xfrm>
                  <a:off x="-222250" y="317500"/>
                  <a:ext cx="2709332" cy="6857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49DE920-7692-9110-72C4-A4364F313AD7}"/>
                    </a:ext>
                  </a:extLst>
                </p:cNvPr>
                <p:cNvSpPr txBox="1"/>
                <p:nvPr/>
              </p:nvSpPr>
              <p:spPr>
                <a:xfrm>
                  <a:off x="-222250" y="1830916"/>
                  <a:ext cx="2743200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ea typeface="+mn-lt"/>
                      <a:cs typeface="+mn-lt"/>
                    </a:rPr>
                    <a:t>Requirement Stability</a:t>
                  </a:r>
                  <a:endParaRPr lang="en-US" b="1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C5A4CFF-FFA1-C63E-B465-6E21627B7293}"/>
                    </a:ext>
                  </a:extLst>
                </p:cNvPr>
                <p:cNvSpPr txBox="1"/>
                <p:nvPr/>
              </p:nvSpPr>
              <p:spPr>
                <a:xfrm>
                  <a:off x="-52917" y="3005665"/>
                  <a:ext cx="2372784" cy="646331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ea typeface="+mn-lt"/>
                      <a:cs typeface="+mn-lt"/>
                    </a:rPr>
                    <a:t>Stability of Requirements</a:t>
                  </a:r>
                  <a:endParaRPr lang="en-US" b="1"/>
                </a:p>
              </p:txBody>
            </p:sp>
          </p:grp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8FD1268A-690B-632D-3B0F-E6B4125CD868}"/>
                  </a:ext>
                </a:extLst>
              </p:cNvPr>
              <p:cNvSpPr/>
              <p:nvPr/>
            </p:nvSpPr>
            <p:spPr>
              <a:xfrm rot="5400000">
                <a:off x="2397124" y="1444625"/>
                <a:ext cx="1132416" cy="529166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031C78B-A4BA-5A3E-29D2-C00048503CBB}"/>
                </a:ext>
              </a:extLst>
            </p:cNvPr>
            <p:cNvSpPr txBox="1"/>
            <p:nvPr/>
          </p:nvSpPr>
          <p:spPr>
            <a:xfrm>
              <a:off x="158749" y="3799417"/>
              <a:ext cx="2391833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Stable, well-defined scope favors Waterfall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Evolving or uncertain requirements favor Agile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High change frequency increases risk in linear models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025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D82A3-4C2B-16B0-58F7-B20C5CC87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F154-E061-1795-B67E-F85255569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950" y="365125"/>
            <a:ext cx="7816850" cy="3230563"/>
          </a:xfrm>
        </p:spPr>
        <p:txBody>
          <a:bodyPr/>
          <a:lstStyle/>
          <a:p>
            <a:r>
              <a:rPr lang="en-US" sz="4000" dirty="0">
                <a:latin typeface="Calibri Light"/>
                <a:ea typeface="Calibri Light"/>
                <a:cs typeface="Calibri Light"/>
              </a:rPr>
              <a:t>Why Consider Agile at </a:t>
            </a:r>
            <a:r>
              <a:rPr lang="en-US" sz="4000" dirty="0" err="1">
                <a:latin typeface="Calibri Light"/>
                <a:ea typeface="Calibri Light"/>
                <a:cs typeface="Calibri Light"/>
              </a:rPr>
              <a:t>ChadaTech</a:t>
            </a:r>
            <a:r>
              <a:rPr lang="en-US" sz="4000" dirty="0">
                <a:latin typeface="Calibri Light"/>
                <a:ea typeface="Calibri Light"/>
                <a:cs typeface="Calibri Light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09EFD-0E89-5586-5315-8E0D1FCAB538}"/>
              </a:ext>
            </a:extLst>
          </p:cNvPr>
          <p:cNvSpPr txBox="1"/>
          <p:nvPr/>
        </p:nvSpPr>
        <p:spPr>
          <a:xfrm>
            <a:off x="338666" y="19685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2D2A7BE-5E96-44B2-0D09-DF6F4EDCB31F}"/>
              </a:ext>
            </a:extLst>
          </p:cNvPr>
          <p:cNvSpPr/>
          <p:nvPr/>
        </p:nvSpPr>
        <p:spPr>
          <a:xfrm rot="5400000">
            <a:off x="2411942" y="1459442"/>
            <a:ext cx="1132416" cy="529166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9471D7-E0C4-FB08-68DE-69C9935B5A40}"/>
              </a:ext>
            </a:extLst>
          </p:cNvPr>
          <p:cNvSpPr txBox="1"/>
          <p:nvPr/>
        </p:nvSpPr>
        <p:spPr>
          <a:xfrm>
            <a:off x="158750" y="3862916"/>
            <a:ext cx="2402416" cy="2264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89184AA-70EE-476C-14F0-30187F50F3A5}"/>
              </a:ext>
            </a:extLst>
          </p:cNvPr>
          <p:cNvGrpSpPr/>
          <p:nvPr/>
        </p:nvGrpSpPr>
        <p:grpSpPr>
          <a:xfrm>
            <a:off x="8731250" y="-10583"/>
            <a:ext cx="3460749" cy="6857999"/>
            <a:chOff x="8731250" y="0"/>
            <a:chExt cx="3460749" cy="685799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43AB3EA-48AF-20C9-475F-25B8B38E837B}"/>
                </a:ext>
              </a:extLst>
            </p:cNvPr>
            <p:cNvGrpSpPr/>
            <p:nvPr/>
          </p:nvGrpSpPr>
          <p:grpSpPr>
            <a:xfrm>
              <a:off x="8731250" y="0"/>
              <a:ext cx="3460749" cy="6857999"/>
              <a:chOff x="8731250" y="0"/>
              <a:chExt cx="3460749" cy="685799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D374C19-34AE-3761-111C-0E7F9DBE502B}"/>
                  </a:ext>
                </a:extLst>
              </p:cNvPr>
              <p:cNvSpPr/>
              <p:nvPr/>
            </p:nvSpPr>
            <p:spPr>
              <a:xfrm>
                <a:off x="8731250" y="0"/>
                <a:ext cx="3460749" cy="6857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BCEB95D-166B-DD10-3579-B52E27414E62}"/>
                  </a:ext>
                </a:extLst>
              </p:cNvPr>
              <p:cNvSpPr txBox="1"/>
              <p:nvPr/>
            </p:nvSpPr>
            <p:spPr>
              <a:xfrm>
                <a:off x="9165166" y="1513416"/>
                <a:ext cx="2743200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Time-to-Value Expectations</a:t>
                </a:r>
                <a:endParaRPr lang="en-US" b="1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620C93-06B7-F979-CB91-533F0F74F8FE}"/>
                </a:ext>
              </a:extLst>
            </p:cNvPr>
            <p:cNvSpPr txBox="1"/>
            <p:nvPr/>
          </p:nvSpPr>
          <p:spPr>
            <a:xfrm>
              <a:off x="8889999" y="2751667"/>
              <a:ext cx="3153833" cy="18158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Long, fixed release cycles align with </a:t>
              </a:r>
              <a:r>
                <a:rPr lang="en-US" sz="1600">
                  <a:ea typeface="+mn-lt"/>
                  <a:cs typeface="+mn-lt"/>
                </a:rPr>
                <a:t>Waterfall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Early</a:t>
              </a:r>
              <a:r>
                <a:rPr lang="en-US" sz="1600" dirty="0">
                  <a:ea typeface="+mn-lt"/>
                  <a:cs typeface="+mn-lt"/>
                </a:rPr>
                <a:t> incremental delivery </a:t>
              </a:r>
              <a:r>
                <a:rPr lang="en-US" sz="1600">
                  <a:ea typeface="+mn-lt"/>
                  <a:cs typeface="+mn-lt"/>
                </a:rPr>
                <a:t>favors Agile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Incremental delivery accelerates return on investment</a:t>
              </a:r>
              <a:endParaRPr lang="en-US">
                <a:ea typeface="+mn-lt"/>
                <a:cs typeface="+mn-lt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150A43F-DC0A-292B-F482-EF4D211E9319}"/>
              </a:ext>
            </a:extLst>
          </p:cNvPr>
          <p:cNvGrpSpPr/>
          <p:nvPr/>
        </p:nvGrpSpPr>
        <p:grpSpPr>
          <a:xfrm>
            <a:off x="5630333" y="-10583"/>
            <a:ext cx="4000499" cy="6860805"/>
            <a:chOff x="5630334" y="0"/>
            <a:chExt cx="4000499" cy="686080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DB26542-3369-16E7-0A44-95C6ADE413C0}"/>
                </a:ext>
              </a:extLst>
            </p:cNvPr>
            <p:cNvGrpSpPr/>
            <p:nvPr/>
          </p:nvGrpSpPr>
          <p:grpSpPr>
            <a:xfrm>
              <a:off x="5630334" y="0"/>
              <a:ext cx="3100915" cy="6857999"/>
              <a:chOff x="5630334" y="0"/>
              <a:chExt cx="3100915" cy="685799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3741C3-6B62-EDF3-29CB-BF3F9DC0B7A2}"/>
                  </a:ext>
                </a:extLst>
              </p:cNvPr>
              <p:cNvSpPr/>
              <p:nvPr/>
            </p:nvSpPr>
            <p:spPr>
              <a:xfrm>
                <a:off x="5630334" y="0"/>
                <a:ext cx="3100915" cy="6857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077091-C078-314D-82A4-1E25119114B6}"/>
                  </a:ext>
                </a:extLst>
              </p:cNvPr>
              <p:cNvSpPr txBox="1"/>
              <p:nvPr/>
            </p:nvSpPr>
            <p:spPr>
              <a:xfrm>
                <a:off x="5884333" y="1545166"/>
                <a:ext cx="274320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ea typeface="+mn-lt"/>
                    <a:cs typeface="+mn-lt"/>
                  </a:rPr>
                  <a:t>Risk and Complexity</a:t>
                </a:r>
                <a:endParaRPr lang="en-US" b="1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29B906A-C40C-3935-8042-036735B7C561}"/>
                </a:ext>
              </a:extLst>
            </p:cNvPr>
            <p:cNvSpPr txBox="1"/>
            <p:nvPr/>
          </p:nvSpPr>
          <p:spPr>
            <a:xfrm>
              <a:off x="5820832" y="2709333"/>
              <a:ext cx="2741083" cy="18158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High technical uncertainty benefits from iterative validation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dirty="0">
                  <a:ea typeface="+mn-lt"/>
                  <a:cs typeface="+mn-lt"/>
                </a:rPr>
                <a:t>Late defect discovery increases cost </a:t>
              </a:r>
              <a:r>
                <a:rPr lang="en-US" sz="1600">
                  <a:ea typeface="+mn-lt"/>
                  <a:cs typeface="+mn-lt"/>
                </a:rPr>
                <a:t>exposure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Agile</a:t>
              </a:r>
              <a:r>
                <a:rPr lang="en-US" sz="1600" dirty="0">
                  <a:ea typeface="+mn-lt"/>
                  <a:cs typeface="+mn-lt"/>
                </a:rPr>
                <a:t> enables incremental risk reduction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112D4D3-D4C0-8FF6-AC36-7026B78D3550}"/>
                </a:ext>
              </a:extLst>
            </p:cNvPr>
            <p:cNvSpPr txBox="1"/>
            <p:nvPr/>
          </p:nvSpPr>
          <p:spPr>
            <a:xfrm>
              <a:off x="6275917" y="6614584"/>
              <a:ext cx="3354916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>
                  <a:ea typeface="+mn-lt"/>
                  <a:cs typeface="+mn-lt"/>
                </a:rPr>
                <a:t>(PMI, 2023; Thesing et al., 2021,Baxter et al., 2023)</a:t>
              </a:r>
              <a:endParaRPr lang="en-US">
                <a:ea typeface="+mn-lt"/>
                <a:cs typeface="+mn-lt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1814E672-4F4F-5F2E-465C-441D5AC9A32C}"/>
                </a:ext>
              </a:extLst>
            </p:cNvPr>
            <p:cNvSpPr/>
            <p:nvPr/>
          </p:nvSpPr>
          <p:spPr>
            <a:xfrm rot="5400000">
              <a:off x="8429624" y="1328209"/>
              <a:ext cx="1132416" cy="529166"/>
            </a:xfrm>
            <a:prstGeom prst="triangl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5563E02-CE3C-65E9-6260-C7DABA8462EA}"/>
              </a:ext>
            </a:extLst>
          </p:cNvPr>
          <p:cNvGrpSpPr/>
          <p:nvPr/>
        </p:nvGrpSpPr>
        <p:grpSpPr>
          <a:xfrm>
            <a:off x="2709334" y="-10584"/>
            <a:ext cx="7471832" cy="6857999"/>
            <a:chOff x="2709334" y="-10584"/>
            <a:chExt cx="7471832" cy="685799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8449635-32BC-6B59-BC60-5BE06E6857A6}"/>
                </a:ext>
              </a:extLst>
            </p:cNvPr>
            <p:cNvGrpSpPr/>
            <p:nvPr/>
          </p:nvGrpSpPr>
          <p:grpSpPr>
            <a:xfrm>
              <a:off x="2709334" y="-10584"/>
              <a:ext cx="3460748" cy="6857999"/>
              <a:chOff x="2698751" y="-10584"/>
              <a:chExt cx="3460748" cy="6857999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D272214-A302-77FC-1FAB-77A9C606787F}"/>
                  </a:ext>
                </a:extLst>
              </p:cNvPr>
              <p:cNvGrpSpPr/>
              <p:nvPr/>
            </p:nvGrpSpPr>
            <p:grpSpPr>
              <a:xfrm>
                <a:off x="2698751" y="-10584"/>
                <a:ext cx="2920999" cy="6857999"/>
                <a:chOff x="2709333" y="-1"/>
                <a:chExt cx="2920999" cy="6857999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0660D67E-9046-D263-24E8-94DA3849EC39}"/>
                    </a:ext>
                  </a:extLst>
                </p:cNvPr>
                <p:cNvSpPr/>
                <p:nvPr/>
              </p:nvSpPr>
              <p:spPr>
                <a:xfrm>
                  <a:off x="2709333" y="-1"/>
                  <a:ext cx="2920999" cy="6857999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85D3D40-5417-050F-213A-9D36C48C0BF3}"/>
                    </a:ext>
                  </a:extLst>
                </p:cNvPr>
                <p:cNvSpPr txBox="1"/>
                <p:nvPr/>
              </p:nvSpPr>
              <p:spPr>
                <a:xfrm>
                  <a:off x="2973916" y="1513416"/>
                  <a:ext cx="2393950" cy="646331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ea typeface="+mn-lt"/>
                      <a:cs typeface="+mn-lt"/>
                    </a:rPr>
                    <a:t>Stakeholder Involvement</a:t>
                  </a:r>
                  <a:endParaRPr lang="en-US" b="1"/>
                </a:p>
              </p:txBody>
            </p:sp>
          </p:grp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A17C596D-BFF3-082B-9DA4-48F3175FC0A9}"/>
                  </a:ext>
                </a:extLst>
              </p:cNvPr>
              <p:cNvSpPr/>
              <p:nvPr/>
            </p:nvSpPr>
            <p:spPr>
              <a:xfrm rot="5400000">
                <a:off x="5328708" y="1444625"/>
                <a:ext cx="1132416" cy="529166"/>
              </a:xfrm>
              <a:prstGeom prst="triangl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9A5E05D-BD37-126E-0C73-7A1B0C7D91F3}"/>
                  </a:ext>
                </a:extLst>
              </p:cNvPr>
              <p:cNvSpPr txBox="1"/>
              <p:nvPr/>
            </p:nvSpPr>
            <p:spPr>
              <a:xfrm>
                <a:off x="2794000" y="2667000"/>
                <a:ext cx="2709333" cy="230832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600">
                    <a:ea typeface="+mn-lt"/>
                    <a:cs typeface="+mn-lt"/>
                  </a:rPr>
                  <a:t>Limited stakeholder availability may align with Waterfall</a:t>
                </a:r>
                <a:endParaRPr lang="en-US"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>
                    <a:ea typeface="+mn-lt"/>
                    <a:cs typeface="+mn-lt"/>
                  </a:rPr>
                  <a:t>Continuous collaboration supports iterative development</a:t>
                </a:r>
                <a:endParaRPr lang="en-US">
                  <a:latin typeface="Calibri Light"/>
                  <a:ea typeface="Calibri Light"/>
                  <a:cs typeface="Calibri Ligh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>
                    <a:ea typeface="+mn-lt"/>
                    <a:cs typeface="+mn-lt"/>
                  </a:rPr>
                  <a:t>Frequent feedback reduces misalignment risk</a:t>
                </a:r>
                <a:endParaRPr lang="en-US">
                  <a:latin typeface="Calibri Light"/>
                  <a:ea typeface="Calibri Light"/>
                  <a:cs typeface="Calibri Light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27D6C7-E3E4-3022-87A5-FFCD723EDC5E}"/>
                </a:ext>
              </a:extLst>
            </p:cNvPr>
            <p:cNvSpPr txBox="1"/>
            <p:nvPr/>
          </p:nvSpPr>
          <p:spPr>
            <a:xfrm>
              <a:off x="4487333" y="4910666"/>
              <a:ext cx="5693833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>
                  <a:ea typeface="+mn-lt"/>
                  <a:cs typeface="+mn-lt"/>
                </a:rPr>
                <a:t>Selecting an approach should align with project uncertainty, stakeholder engagement, and delivery expectations (PMI, 2023).</a:t>
              </a:r>
              <a:endParaRPr lang="en-US">
                <a:ea typeface="+mn-lt"/>
                <a:cs typeface="+mn-lt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AEAD17B-8B09-A806-9C6C-BD91AD7D4A87}"/>
              </a:ext>
            </a:extLst>
          </p:cNvPr>
          <p:cNvGrpSpPr/>
          <p:nvPr/>
        </p:nvGrpSpPr>
        <p:grpSpPr>
          <a:xfrm>
            <a:off x="0" y="0"/>
            <a:ext cx="3227915" cy="6857999"/>
            <a:chOff x="0" y="0"/>
            <a:chExt cx="3227915" cy="685799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B975020-3E94-7B33-F8E2-6736391D0415}"/>
                </a:ext>
              </a:extLst>
            </p:cNvPr>
            <p:cNvGrpSpPr/>
            <p:nvPr/>
          </p:nvGrpSpPr>
          <p:grpSpPr>
            <a:xfrm>
              <a:off x="0" y="0"/>
              <a:ext cx="3227915" cy="6857999"/>
              <a:chOff x="0" y="0"/>
              <a:chExt cx="3227915" cy="685799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4E3F3EC-FE05-9D1A-174F-491E7112A5AC}"/>
                  </a:ext>
                </a:extLst>
              </p:cNvPr>
              <p:cNvGrpSpPr/>
              <p:nvPr/>
            </p:nvGrpSpPr>
            <p:grpSpPr>
              <a:xfrm>
                <a:off x="0" y="0"/>
                <a:ext cx="2743200" cy="6857999"/>
                <a:chOff x="-222250" y="317500"/>
                <a:chExt cx="2743200" cy="6857999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1906E69A-C23A-6B07-BE25-CB7076CF3FEB}"/>
                    </a:ext>
                  </a:extLst>
                </p:cNvPr>
                <p:cNvSpPr/>
                <p:nvPr/>
              </p:nvSpPr>
              <p:spPr>
                <a:xfrm>
                  <a:off x="-222250" y="317500"/>
                  <a:ext cx="2709332" cy="6857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1A6A7AC-F44D-C02E-5588-BD9C150B2F5D}"/>
                    </a:ext>
                  </a:extLst>
                </p:cNvPr>
                <p:cNvSpPr txBox="1"/>
                <p:nvPr/>
              </p:nvSpPr>
              <p:spPr>
                <a:xfrm>
                  <a:off x="-222250" y="1830916"/>
                  <a:ext cx="2743200" cy="369332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b="1">
                      <a:ea typeface="+mn-lt"/>
                      <a:cs typeface="+mn-lt"/>
                    </a:rPr>
                    <a:t>Requirement Stability</a:t>
                  </a:r>
                  <a:endParaRPr lang="en-US" b="1"/>
                </a:p>
              </p:txBody>
            </p:sp>
          </p:grp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77EDAFCC-0F7F-38E8-2653-8CCB026B65DF}"/>
                  </a:ext>
                </a:extLst>
              </p:cNvPr>
              <p:cNvSpPr/>
              <p:nvPr/>
            </p:nvSpPr>
            <p:spPr>
              <a:xfrm rot="5400000">
                <a:off x="2397124" y="1444625"/>
                <a:ext cx="1132416" cy="529166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36D1DB-D611-3AF6-A9C3-9A5BE1935A2E}"/>
                </a:ext>
              </a:extLst>
            </p:cNvPr>
            <p:cNvSpPr txBox="1"/>
            <p:nvPr/>
          </p:nvSpPr>
          <p:spPr>
            <a:xfrm>
              <a:off x="158749" y="2614084"/>
              <a:ext cx="2391833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Stable, well-defined scope favors Waterfall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Evolving or uncertain requirements favor Agile</a:t>
              </a:r>
              <a:endParaRPr lang="en-US">
                <a:ea typeface="+mn-lt"/>
                <a:cs typeface="+mn-lt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ea typeface="+mn-lt"/>
                  <a:cs typeface="+mn-lt"/>
                </a:rPr>
                <a:t>High change frequency increases risk in linear models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188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65345-7135-8D22-DD82-E2BBB970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D66F6A-F83D-ADFE-D7E4-CAB45DC68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865078"/>
              </p:ext>
            </p:extLst>
          </p:nvPr>
        </p:nvGraphicFramePr>
        <p:xfrm>
          <a:off x="-21166" y="0"/>
          <a:ext cx="12198656" cy="6902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1569461730"/>
                    </a:ext>
                  </a:extLst>
                </a:gridCol>
                <a:gridCol w="1982420">
                  <a:extLst>
                    <a:ext uri="{9D8B030D-6E8A-4147-A177-3AD203B41FA5}">
                      <a16:colId xmlns:a16="http://schemas.microsoft.com/office/drawing/2014/main" val="35646211"/>
                    </a:ext>
                  </a:extLst>
                </a:gridCol>
                <a:gridCol w="2030184">
                  <a:extLst>
                    <a:ext uri="{9D8B030D-6E8A-4147-A177-3AD203B41FA5}">
                      <a16:colId xmlns:a16="http://schemas.microsoft.com/office/drawing/2014/main" val="3717761853"/>
                    </a:ext>
                  </a:extLst>
                </a:gridCol>
                <a:gridCol w="2030184">
                  <a:extLst>
                    <a:ext uri="{9D8B030D-6E8A-4147-A177-3AD203B41FA5}">
                      <a16:colId xmlns:a16="http://schemas.microsoft.com/office/drawing/2014/main" val="3391507026"/>
                    </a:ext>
                  </a:extLst>
                </a:gridCol>
                <a:gridCol w="2030184">
                  <a:extLst>
                    <a:ext uri="{9D8B030D-6E8A-4147-A177-3AD203B41FA5}">
                      <a16:colId xmlns:a16="http://schemas.microsoft.com/office/drawing/2014/main" val="1212108301"/>
                    </a:ext>
                  </a:extLst>
                </a:gridCol>
                <a:gridCol w="2030184">
                  <a:extLst>
                    <a:ext uri="{9D8B030D-6E8A-4147-A177-3AD203B41FA5}">
                      <a16:colId xmlns:a16="http://schemas.microsoft.com/office/drawing/2014/main" val="1711565433"/>
                    </a:ext>
                  </a:extLst>
                </a:gridCol>
              </a:tblGrid>
              <a:tr h="137371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0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021618"/>
                  </a:ext>
                </a:extLst>
              </a:tr>
              <a:tr h="140758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878586"/>
                  </a:ext>
                </a:extLst>
              </a:tr>
              <a:tr h="137371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0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661375"/>
                  </a:ext>
                </a:extLst>
              </a:tr>
              <a:tr h="13737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0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99064"/>
                  </a:ext>
                </a:extLst>
              </a:tr>
              <a:tr h="13737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582819"/>
                  </a:ext>
                </a:extLst>
              </a:tr>
            </a:tbl>
          </a:graphicData>
        </a:graphic>
      </p:graphicFrame>
      <p:pic>
        <p:nvPicPr>
          <p:cNvPr id="6" name="Picture 5" descr="A logo for a computer&#10;&#10;AI-generated content may be incorrect.">
            <a:extLst>
              <a:ext uri="{FF2B5EF4-FFF2-40B4-BE49-F238E27FC236}">
                <a16:creationId xmlns:a16="http://schemas.microsoft.com/office/drawing/2014/main" id="{6761CD2F-BF6A-39E8-30DF-0B189DF7D0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3" t="-686" r="6678" b="3448"/>
          <a:stretch>
            <a:fillRect/>
          </a:stretch>
        </p:blipFill>
        <p:spPr>
          <a:xfrm>
            <a:off x="8141677" y="-4"/>
            <a:ext cx="2010478" cy="13772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7A155F-9473-3B41-0A92-7452A5AAF120}"/>
              </a:ext>
            </a:extLst>
          </p:cNvPr>
          <p:cNvSpPr txBox="1"/>
          <p:nvPr/>
        </p:nvSpPr>
        <p:spPr>
          <a:xfrm>
            <a:off x="10220243" y="4375801"/>
            <a:ext cx="19684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Calibri Light"/>
                <a:ea typeface="Calibri Light"/>
                <a:cs typeface="Calibri Light"/>
              </a:rPr>
              <a:t>Louis Richards</a:t>
            </a:r>
          </a:p>
          <a:p>
            <a:pPr algn="ctr"/>
            <a:r>
              <a:rPr lang="en-US" b="1">
                <a:latin typeface="Calibri Light"/>
                <a:ea typeface="Calibri Light"/>
                <a:cs typeface="Calibri Light"/>
              </a:rPr>
              <a:t>CS 250</a:t>
            </a:r>
          </a:p>
          <a:p>
            <a:pPr algn="ctr"/>
            <a:r>
              <a:rPr lang="en-US" b="1">
                <a:latin typeface="Calibri Light"/>
                <a:ea typeface="Calibri Light"/>
                <a:cs typeface="Calibri Light"/>
              </a:rPr>
              <a:t>Feb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FB557D-DE01-55D6-F419-55C1E59DDB7C}"/>
              </a:ext>
            </a:extLst>
          </p:cNvPr>
          <p:cNvSpPr txBox="1"/>
          <p:nvPr/>
        </p:nvSpPr>
        <p:spPr>
          <a:xfrm>
            <a:off x="6106583" y="5577416"/>
            <a:ext cx="1989666" cy="1301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D6F2E3-F6D9-AA1F-9C8A-16CA31FC2CE8}"/>
              </a:ext>
            </a:extLst>
          </p:cNvPr>
          <p:cNvSpPr txBox="1"/>
          <p:nvPr/>
        </p:nvSpPr>
        <p:spPr>
          <a:xfrm>
            <a:off x="6107397" y="5900616"/>
            <a:ext cx="202792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latin typeface="Calibri Light"/>
                <a:ea typeface="Calibri Light"/>
                <a:cs typeface="Calibri Light"/>
              </a:rPr>
              <a:t>Strategic Evaluation of Agile Adoption</a:t>
            </a:r>
            <a:br>
              <a:rPr lang="en-US" sz="1400" dirty="0">
                <a:latin typeface="Calibri Light"/>
                <a:ea typeface="Calibri Light"/>
                <a:cs typeface="Calibri Light"/>
              </a:rPr>
            </a:br>
            <a:r>
              <a:rPr lang="en-US" sz="1200">
                <a:latin typeface="Calibri Light"/>
                <a:ea typeface="Calibri Light"/>
                <a:cs typeface="Calibri Light"/>
              </a:rPr>
              <a:t> SNHU Travel Pilot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464F11-BC4F-A4F1-C644-5CD67FF69378}"/>
              </a:ext>
            </a:extLst>
          </p:cNvPr>
          <p:cNvSpPr/>
          <p:nvPr/>
        </p:nvSpPr>
        <p:spPr>
          <a:xfrm>
            <a:off x="2033629" y="1375834"/>
            <a:ext cx="7914703" cy="410144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37D02E-F2A0-A183-93A6-8D77CD1F5E20}"/>
              </a:ext>
            </a:extLst>
          </p:cNvPr>
          <p:cNvSpPr txBox="1"/>
          <p:nvPr/>
        </p:nvSpPr>
        <p:spPr>
          <a:xfrm>
            <a:off x="2249366" y="1378275"/>
            <a:ext cx="7698152" cy="4585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Calibri Light"/>
                <a:ea typeface="Calibri Light"/>
                <a:cs typeface="Calibri Light"/>
              </a:rPr>
              <a:t>References</a:t>
            </a:r>
            <a:endParaRPr lang="en-US" sz="1600" b="1" dirty="0">
              <a:latin typeface="Calibri Light"/>
              <a:ea typeface="Calibri Light"/>
              <a:cs typeface="Calibri Light"/>
            </a:endParaRPr>
          </a:p>
          <a:p>
            <a:r>
              <a:rPr lang="en-US" sz="1600" b="1">
                <a:latin typeface="Calibri Light"/>
                <a:ea typeface="Calibri Light"/>
                <a:cs typeface="Calibri Light"/>
              </a:rPr>
              <a:t>Thesing, T., Feldmann, C., &amp; Burchardt, M. (2021)</a:t>
            </a:r>
            <a:r>
              <a:rPr lang="en-US" sz="1600">
                <a:latin typeface="Calibri Light"/>
                <a:ea typeface="Calibri Light"/>
                <a:cs typeface="Calibri Light"/>
              </a:rPr>
              <a:t>.</a:t>
            </a:r>
            <a:r>
              <a:rPr lang="en-US" sz="1600" i="1">
                <a:latin typeface="Calibri Light"/>
                <a:ea typeface="Calibri Light"/>
                <a:cs typeface="Calibri Light"/>
              </a:rPr>
              <a:t> Agile versus waterfall project</a:t>
            </a:r>
            <a:endParaRPr lang="en-US" sz="1600" i="1" dirty="0">
              <a:latin typeface="Calibri Light"/>
              <a:ea typeface="Calibri Light"/>
              <a:cs typeface="Calibri Light"/>
            </a:endParaRPr>
          </a:p>
          <a:p>
            <a:r>
              <a:rPr lang="en-US" sz="1600" i="1" dirty="0">
                <a:latin typeface="Calibri Light"/>
                <a:ea typeface="Calibri Light"/>
                <a:cs typeface="Calibri Light"/>
              </a:rPr>
              <a:t> management: Decision model for selecting the appropriate approach to a project.</a:t>
            </a:r>
          </a:p>
          <a:p>
            <a:r>
              <a:rPr lang="en-US" sz="1600">
                <a:latin typeface="Calibri Light"/>
                <a:ea typeface="Calibri Light"/>
                <a:cs typeface="Calibri Light"/>
              </a:rPr>
              <a:t> Project</a:t>
            </a:r>
            <a:r>
              <a:rPr lang="en-US" sz="1600" dirty="0">
                <a:latin typeface="Calibri Light"/>
                <a:ea typeface="Calibri Light"/>
                <a:cs typeface="Calibri Light"/>
              </a:rPr>
              <a:t> Leadership and Society, 2, 100012. </a:t>
            </a:r>
            <a:r>
              <a:rPr lang="en-US" sz="1600" dirty="0">
                <a:latin typeface="Calibri Light"/>
                <a:ea typeface="Calibri Light"/>
                <a:cs typeface="Calibri Light"/>
                <a:hlinkClick r:id="rId3"/>
              </a:rPr>
              <a:t>https://doi.org/10.1016/j.plas.2021.100012</a:t>
            </a:r>
            <a:r>
              <a:rPr lang="en-US" sz="1600" dirty="0">
                <a:latin typeface="Calibri Light"/>
                <a:ea typeface="Calibri Light"/>
                <a:cs typeface="Calibri Light"/>
              </a:rPr>
              <a:t> </a:t>
            </a:r>
          </a:p>
          <a:p>
            <a:endParaRPr lang="en-US" sz="1600" dirty="0">
              <a:latin typeface="Calibri Light"/>
              <a:ea typeface="Calibri Light"/>
              <a:cs typeface="Calibri Light"/>
            </a:endParaRPr>
          </a:p>
          <a:p>
            <a:r>
              <a:rPr lang="en-US" sz="1600" b="1" dirty="0">
                <a:latin typeface="Calibri Light"/>
                <a:ea typeface="Calibri Light"/>
                <a:cs typeface="Calibri Light"/>
              </a:rPr>
              <a:t>Baxter, D., Dacre, N., Dong, H., &amp; Ceylan, S. (2023).</a:t>
            </a:r>
            <a:r>
              <a:rPr lang="en-US" sz="1600" dirty="0">
                <a:latin typeface="Calibri Light"/>
                <a:ea typeface="Calibri Light"/>
                <a:cs typeface="Calibri Light"/>
              </a:rPr>
              <a:t> Institutional challenges in agile  adoption: Evidence from a public sector IT project. </a:t>
            </a:r>
            <a:r>
              <a:rPr lang="en-US" sz="1600" i="1">
                <a:latin typeface="Calibri Light"/>
                <a:ea typeface="Calibri Light"/>
                <a:cs typeface="Calibri Light"/>
              </a:rPr>
              <a:t>Government Information</a:t>
            </a:r>
            <a:endParaRPr lang="en-US" sz="1600" dirty="0">
              <a:latin typeface="Calibri Light"/>
              <a:ea typeface="Calibri Light"/>
              <a:cs typeface="Calibri Light"/>
            </a:endParaRPr>
          </a:p>
          <a:p>
            <a:r>
              <a:rPr lang="en-US" sz="1600" i="1">
                <a:latin typeface="Calibri Light"/>
                <a:ea typeface="Calibri Light"/>
                <a:cs typeface="Calibri Light"/>
              </a:rPr>
              <a:t> Quarterly, 40</a:t>
            </a:r>
            <a:r>
              <a:rPr lang="en-US" sz="1600" dirty="0">
                <a:latin typeface="Calibri Light"/>
                <a:ea typeface="Calibri Light"/>
                <a:cs typeface="Calibri Light"/>
              </a:rPr>
              <a:t>(2), 101858. </a:t>
            </a:r>
            <a:r>
              <a:rPr lang="en-US" sz="1600" dirty="0">
                <a:latin typeface="Calibri Light"/>
                <a:ea typeface="Calibri Light"/>
                <a:cs typeface="Calibri Light"/>
                <a:hlinkClick r:id="rId4"/>
              </a:rPr>
              <a:t>https://doi.org/10.1016/j.giq.2023.101858</a:t>
            </a:r>
            <a:endParaRPr lang="en-US" sz="1600" dirty="0">
              <a:latin typeface="Calibri Light"/>
              <a:ea typeface="Calibri Light"/>
              <a:cs typeface="Calibri Light"/>
            </a:endParaRPr>
          </a:p>
          <a:p>
            <a:endParaRPr lang="en-US" sz="1600" b="1" dirty="0">
              <a:latin typeface="Calibri Light"/>
              <a:ea typeface="Calibri Light"/>
              <a:cs typeface="Calibri Light"/>
            </a:endParaRPr>
          </a:p>
          <a:p>
            <a:r>
              <a:rPr lang="en-US" sz="1600" b="1" dirty="0">
                <a:latin typeface="Calibri Light"/>
                <a:ea typeface="Calibri Light"/>
                <a:cs typeface="Calibri Light"/>
              </a:rPr>
              <a:t>Digital.ai. (2023).</a:t>
            </a:r>
            <a:r>
              <a:rPr lang="en-US" sz="1600" dirty="0">
                <a:latin typeface="Calibri Light"/>
                <a:ea typeface="Calibri Light"/>
                <a:cs typeface="Calibri Light"/>
              </a:rPr>
              <a:t> </a:t>
            </a:r>
            <a:r>
              <a:rPr lang="en-US" sz="1600" i="1">
                <a:latin typeface="Calibri Light"/>
                <a:ea typeface="Calibri Light"/>
                <a:cs typeface="Calibri Light"/>
              </a:rPr>
              <a:t>17th annual state of agile report.</a:t>
            </a:r>
            <a:endParaRPr lang="en-US" sz="1600" dirty="0">
              <a:latin typeface="Calibri Light"/>
              <a:ea typeface="Calibri Light"/>
              <a:cs typeface="Calibri Light"/>
            </a:endParaRPr>
          </a:p>
          <a:p>
            <a:endParaRPr lang="en-US" sz="1600" dirty="0">
              <a:latin typeface="Calibri Light"/>
              <a:ea typeface="Calibri Light"/>
              <a:cs typeface="Calibri Light"/>
            </a:endParaRPr>
          </a:p>
          <a:p>
            <a:r>
              <a:rPr lang="en-US" sz="1600" b="1" dirty="0">
                <a:latin typeface="Calibri Light"/>
                <a:ea typeface="Calibri Light"/>
                <a:cs typeface="Calibri Light"/>
              </a:rPr>
              <a:t>Project Management Institute &amp; Agile Alliance. (2021).</a:t>
            </a:r>
            <a:r>
              <a:rPr lang="en-US" sz="1600" dirty="0">
                <a:latin typeface="Calibri Light"/>
                <a:ea typeface="Calibri Light"/>
                <a:cs typeface="Calibri Light"/>
              </a:rPr>
              <a:t> </a:t>
            </a:r>
            <a:r>
              <a:rPr lang="en-US" sz="1600" i="1" dirty="0">
                <a:latin typeface="Calibri Light"/>
                <a:ea typeface="Calibri Light"/>
                <a:cs typeface="Calibri Light"/>
              </a:rPr>
              <a:t>Agile practice guide.</a:t>
            </a:r>
            <a:r>
              <a:rPr lang="en-US" sz="1600" dirty="0">
                <a:latin typeface="Calibri Light"/>
                <a:ea typeface="Calibri Light"/>
                <a:cs typeface="Calibri Light"/>
              </a:rPr>
              <a:t> </a:t>
            </a:r>
            <a:r>
              <a:rPr lang="en-US" sz="1600">
                <a:latin typeface="Calibri Light"/>
                <a:ea typeface="Calibri Light"/>
                <a:cs typeface="Calibri Light"/>
              </a:rPr>
              <a:t>Project</a:t>
            </a:r>
            <a:endParaRPr lang="en-US" sz="1600" dirty="0">
              <a:latin typeface="Calibri Light"/>
              <a:ea typeface="Calibri Light"/>
              <a:cs typeface="Calibri Light"/>
            </a:endParaRPr>
          </a:p>
          <a:p>
            <a:r>
              <a:rPr lang="en-US" sz="1600">
                <a:latin typeface="Calibri Light"/>
                <a:ea typeface="Calibri Light"/>
                <a:cs typeface="Calibri Light"/>
              </a:rPr>
              <a:t> Management Institute.</a:t>
            </a:r>
            <a:endParaRPr lang="en-US" sz="1600" dirty="0">
              <a:latin typeface="Calibri Light"/>
              <a:ea typeface="Calibri Light"/>
              <a:cs typeface="Calibri Light"/>
            </a:endParaRPr>
          </a:p>
          <a:p>
            <a:endParaRPr lang="en-US" sz="1600" dirty="0">
              <a:latin typeface="Calibri Light"/>
              <a:ea typeface="Calibri Light"/>
              <a:cs typeface="Calibri Light"/>
            </a:endParaRPr>
          </a:p>
          <a:p>
            <a:r>
              <a:rPr lang="en-US" sz="1600" b="1" dirty="0">
                <a:latin typeface="Calibri Light"/>
                <a:ea typeface="Calibri Light"/>
                <a:cs typeface="Calibri Light"/>
              </a:rPr>
              <a:t>Project Management Institute. (2023)</a:t>
            </a:r>
            <a:r>
              <a:rPr lang="en-US" sz="1600" dirty="0">
                <a:latin typeface="Calibri Light"/>
                <a:ea typeface="Calibri Light"/>
                <a:cs typeface="Calibri Light"/>
              </a:rPr>
              <a:t>. </a:t>
            </a:r>
            <a:r>
              <a:rPr lang="en-US" sz="1600" i="1" dirty="0">
                <a:latin typeface="Calibri Light"/>
                <a:ea typeface="Calibri Light"/>
                <a:cs typeface="Calibri Light"/>
              </a:rPr>
              <a:t>A guide to the project management body </a:t>
            </a:r>
            <a:r>
              <a:rPr lang="en-US" sz="1600" i="1">
                <a:latin typeface="Calibri Light"/>
                <a:ea typeface="Calibri Light"/>
                <a:cs typeface="Calibri Light"/>
              </a:rPr>
              <a:t>of</a:t>
            </a:r>
            <a:endParaRPr lang="en-US" sz="1600" i="1" dirty="0">
              <a:latin typeface="Calibri Light"/>
              <a:ea typeface="Calibri Light"/>
              <a:cs typeface="Calibri Light"/>
            </a:endParaRPr>
          </a:p>
          <a:p>
            <a:r>
              <a:rPr lang="en-US" sz="1600" i="1">
                <a:latin typeface="Calibri Light"/>
                <a:ea typeface="Calibri Light"/>
                <a:cs typeface="Calibri Light"/>
              </a:rPr>
              <a:t> knowledge</a:t>
            </a:r>
            <a:r>
              <a:rPr lang="en-US" sz="1600" i="1" dirty="0">
                <a:latin typeface="Calibri Light"/>
                <a:ea typeface="Calibri Light"/>
                <a:cs typeface="Calibri Light"/>
              </a:rPr>
              <a:t> (PMBOK® Guide) (7th ed.)</a:t>
            </a:r>
            <a:r>
              <a:rPr lang="en-US" sz="1600" dirty="0">
                <a:latin typeface="Calibri Light"/>
                <a:ea typeface="Calibri Light"/>
                <a:cs typeface="Calibri Light"/>
              </a:rPr>
              <a:t>. Project Management Institute. 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30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Why Consider Agile at ChadaTech?</vt:lpstr>
      <vt:lpstr>Why Consider Agile at ChadaTech?</vt:lpstr>
      <vt:lpstr>Why Consider Agile at ChadaTech?</vt:lpstr>
      <vt:lpstr>Scrum-Agile Roles</vt:lpstr>
      <vt:lpstr>Scrum-Agile Roles</vt:lpstr>
      <vt:lpstr>How SDLC Phases Function Within an Agile Framework</vt:lpstr>
      <vt:lpstr>Why Consider Agile at ChadaTech?</vt:lpstr>
      <vt:lpstr>Traditional SDLC: The Waterfall Approach</vt:lpstr>
      <vt:lpstr>Why Consider Agile at ChadaTech?</vt:lpstr>
      <vt:lpstr>Selecting the Appropriate Development Approach</vt:lpstr>
      <vt:lpstr>Why Consider Agile at ChadaTech?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1055</cp:revision>
  <dcterms:created xsi:type="dcterms:W3CDTF">2013-07-15T20:26:40Z</dcterms:created>
  <dcterms:modified xsi:type="dcterms:W3CDTF">2026-03-01T23:00:50Z</dcterms:modified>
</cp:coreProperties>
</file>